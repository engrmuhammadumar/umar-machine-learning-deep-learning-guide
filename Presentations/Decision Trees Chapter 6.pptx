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4"/>
  </p:notesMasterIdLst>
  <p:handoutMasterIdLst>
    <p:handoutMasterId r:id="rId15"/>
  </p:handoutMasterIdLst>
  <p:sldIdLst>
    <p:sldId id="281" r:id="rId5"/>
    <p:sldId id="355" r:id="rId6"/>
    <p:sldId id="358" r:id="rId7"/>
    <p:sldId id="362" r:id="rId8"/>
    <p:sldId id="361" r:id="rId9"/>
    <p:sldId id="353" r:id="rId10"/>
    <p:sldId id="284" r:id="rId11"/>
    <p:sldId id="357" r:id="rId12"/>
    <p:sldId id="3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Muhammad Umar 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3857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510" y="978619"/>
            <a:ext cx="599124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Agenda</a:t>
            </a:r>
          </a:p>
        </p:txBody>
      </p:sp>
      <p:pic>
        <p:nvPicPr>
          <p:cNvPr id="13" name="Picture Placeholder 12" descr="A tree with many colorful circles&#10;&#10;Description automatically generated">
            <a:extLst>
              <a:ext uri="{FF2B5EF4-FFF2-40B4-BE49-F238E27FC236}">
                <a16:creationId xmlns:a16="http://schemas.microsoft.com/office/drawing/2014/main" id="{FED4A738-3834-894C-50C5-36E1A73153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964" r="2964"/>
          <a:stretch>
            <a:fillRect/>
          </a:stretch>
        </p:blipFill>
        <p:spPr>
          <a:xfrm>
            <a:off x="434529" y="630936"/>
            <a:ext cx="3993645" cy="54955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9848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859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861" y="2252870"/>
            <a:ext cx="5993892" cy="3560251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Training and Visualizing a Decision Trees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Making Predictions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Estimating Class Probabilities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The CART Training Algorithm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Computational Complexity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Regularization Hyperparameters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Regression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/>
              <a:t>Instability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4E39E-D8A0-4428-97D8-FE54523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Decision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E9372-10C9-4FE2-AA18-D3757770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Introduction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06C04-4F4E-47CE-849C-FC29852F5B1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Decision Trees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003F3-F17A-4CAC-B7CA-4C498BA84E7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73254" y="6356350"/>
            <a:ext cx="247749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6" name="Rectangle 25" descr="Database">
            <a:extLst>
              <a:ext uri="{FF2B5EF4-FFF2-40B4-BE49-F238E27FC236}">
                <a16:creationId xmlns:a16="http://schemas.microsoft.com/office/drawing/2014/main" id="{C7706DF5-7E80-9AA4-1C58-15678247C626}"/>
              </a:ext>
            </a:extLst>
          </p:cNvPr>
          <p:cNvSpPr/>
          <p:nvPr/>
        </p:nvSpPr>
        <p:spPr>
          <a:xfrm>
            <a:off x="1977179" y="3132828"/>
            <a:ext cx="932563" cy="932563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3CC6147-6814-524B-9945-8B04309ABA10}"/>
              </a:ext>
            </a:extLst>
          </p:cNvPr>
          <p:cNvSpPr/>
          <p:nvPr/>
        </p:nvSpPr>
        <p:spPr>
          <a:xfrm>
            <a:off x="1407279" y="4357227"/>
            <a:ext cx="2072362" cy="720000"/>
          </a:xfrm>
          <a:custGeom>
            <a:avLst/>
            <a:gdLst>
              <a:gd name="connsiteX0" fmla="*/ 0 w 2072362"/>
              <a:gd name="connsiteY0" fmla="*/ 0 h 720000"/>
              <a:gd name="connsiteX1" fmla="*/ 2072362 w 2072362"/>
              <a:gd name="connsiteY1" fmla="*/ 0 h 720000"/>
              <a:gd name="connsiteX2" fmla="*/ 2072362 w 2072362"/>
              <a:gd name="connsiteY2" fmla="*/ 720000 h 720000"/>
              <a:gd name="connsiteX3" fmla="*/ 0 w 2072362"/>
              <a:gd name="connsiteY3" fmla="*/ 720000 h 720000"/>
              <a:gd name="connsiteX4" fmla="*/ 0 w 2072362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2362" h="720000">
                <a:moveTo>
                  <a:pt x="0" y="0"/>
                </a:moveTo>
                <a:lnTo>
                  <a:pt x="2072362" y="0"/>
                </a:lnTo>
                <a:lnTo>
                  <a:pt x="2072362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/>
              <a:t>A decision tree is a supervised machine learning algorithm that uses a tree like structure to predict a target.</a:t>
            </a:r>
          </a:p>
        </p:txBody>
      </p:sp>
      <p:sp>
        <p:nvSpPr>
          <p:cNvPr id="28" name="Rectangle 27" descr="Leaf">
            <a:extLst>
              <a:ext uri="{FF2B5EF4-FFF2-40B4-BE49-F238E27FC236}">
                <a16:creationId xmlns:a16="http://schemas.microsoft.com/office/drawing/2014/main" id="{606AF844-ADE7-B5B0-8D7C-30990566EDA6}"/>
              </a:ext>
            </a:extLst>
          </p:cNvPr>
          <p:cNvSpPr/>
          <p:nvPr/>
        </p:nvSpPr>
        <p:spPr>
          <a:xfrm>
            <a:off x="4412205" y="3132828"/>
            <a:ext cx="932563" cy="932563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D52AD89-4E69-1F43-B05A-19827881A9A1}"/>
              </a:ext>
            </a:extLst>
          </p:cNvPr>
          <p:cNvSpPr/>
          <p:nvPr/>
        </p:nvSpPr>
        <p:spPr>
          <a:xfrm>
            <a:off x="3842305" y="4357227"/>
            <a:ext cx="2072362" cy="720000"/>
          </a:xfrm>
          <a:custGeom>
            <a:avLst/>
            <a:gdLst>
              <a:gd name="connsiteX0" fmla="*/ 0 w 2072362"/>
              <a:gd name="connsiteY0" fmla="*/ 0 h 720000"/>
              <a:gd name="connsiteX1" fmla="*/ 2072362 w 2072362"/>
              <a:gd name="connsiteY1" fmla="*/ 0 h 720000"/>
              <a:gd name="connsiteX2" fmla="*/ 2072362 w 2072362"/>
              <a:gd name="connsiteY2" fmla="*/ 720000 h 720000"/>
              <a:gd name="connsiteX3" fmla="*/ 0 w 2072362"/>
              <a:gd name="connsiteY3" fmla="*/ 720000 h 720000"/>
              <a:gd name="connsiteX4" fmla="*/ 0 w 2072362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2362" h="720000">
                <a:moveTo>
                  <a:pt x="0" y="0"/>
                </a:moveTo>
                <a:lnTo>
                  <a:pt x="2072362" y="0"/>
                </a:lnTo>
                <a:lnTo>
                  <a:pt x="2072362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/>
              <a:t>It includes root nodes, decision nodes branches and leaf nodes. </a:t>
            </a:r>
          </a:p>
        </p:txBody>
      </p:sp>
      <p:sp>
        <p:nvSpPr>
          <p:cNvPr id="32" name="Rectangle 31" descr="Deciduous tree">
            <a:extLst>
              <a:ext uri="{FF2B5EF4-FFF2-40B4-BE49-F238E27FC236}">
                <a16:creationId xmlns:a16="http://schemas.microsoft.com/office/drawing/2014/main" id="{45818D75-EC49-81E7-BB08-F492E24DEF75}"/>
              </a:ext>
            </a:extLst>
          </p:cNvPr>
          <p:cNvSpPr/>
          <p:nvPr/>
        </p:nvSpPr>
        <p:spPr>
          <a:xfrm>
            <a:off x="6847231" y="3132828"/>
            <a:ext cx="932563" cy="932563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8F67305-D039-2D5F-9DD2-74C590C13DEA}"/>
              </a:ext>
            </a:extLst>
          </p:cNvPr>
          <p:cNvSpPr/>
          <p:nvPr/>
        </p:nvSpPr>
        <p:spPr>
          <a:xfrm>
            <a:off x="6277331" y="4357227"/>
            <a:ext cx="2072362" cy="720000"/>
          </a:xfrm>
          <a:custGeom>
            <a:avLst/>
            <a:gdLst>
              <a:gd name="connsiteX0" fmla="*/ 0 w 2072362"/>
              <a:gd name="connsiteY0" fmla="*/ 0 h 720000"/>
              <a:gd name="connsiteX1" fmla="*/ 2072362 w 2072362"/>
              <a:gd name="connsiteY1" fmla="*/ 0 h 720000"/>
              <a:gd name="connsiteX2" fmla="*/ 2072362 w 2072362"/>
              <a:gd name="connsiteY2" fmla="*/ 720000 h 720000"/>
              <a:gd name="connsiteX3" fmla="*/ 0 w 2072362"/>
              <a:gd name="connsiteY3" fmla="*/ 720000 h 720000"/>
              <a:gd name="connsiteX4" fmla="*/ 0 w 2072362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2362" h="720000">
                <a:moveTo>
                  <a:pt x="0" y="0"/>
                </a:moveTo>
                <a:lnTo>
                  <a:pt x="2072362" y="0"/>
                </a:lnTo>
                <a:lnTo>
                  <a:pt x="2072362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/>
              <a:t>Decision tree classify instances by splitting at the root of the tree and moving through it until a leaf node. </a:t>
            </a:r>
          </a:p>
        </p:txBody>
      </p:sp>
      <p:sp>
        <p:nvSpPr>
          <p:cNvPr id="36" name="Rectangle 35" descr="Magnifying glass">
            <a:extLst>
              <a:ext uri="{FF2B5EF4-FFF2-40B4-BE49-F238E27FC236}">
                <a16:creationId xmlns:a16="http://schemas.microsoft.com/office/drawing/2014/main" id="{4B164497-314D-F814-0396-517B984FBCE5}"/>
              </a:ext>
            </a:extLst>
          </p:cNvPr>
          <p:cNvSpPr/>
          <p:nvPr/>
        </p:nvSpPr>
        <p:spPr>
          <a:xfrm>
            <a:off x="9282257" y="3132828"/>
            <a:ext cx="932563" cy="932563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BB709F3-5D88-1C0A-FF38-FBCD3D6280DF}"/>
              </a:ext>
            </a:extLst>
          </p:cNvPr>
          <p:cNvSpPr/>
          <p:nvPr/>
        </p:nvSpPr>
        <p:spPr>
          <a:xfrm>
            <a:off x="8712357" y="4357227"/>
            <a:ext cx="2072362" cy="720000"/>
          </a:xfrm>
          <a:custGeom>
            <a:avLst/>
            <a:gdLst>
              <a:gd name="connsiteX0" fmla="*/ 0 w 2072362"/>
              <a:gd name="connsiteY0" fmla="*/ 0 h 720000"/>
              <a:gd name="connsiteX1" fmla="*/ 2072362 w 2072362"/>
              <a:gd name="connsiteY1" fmla="*/ 0 h 720000"/>
              <a:gd name="connsiteX2" fmla="*/ 2072362 w 2072362"/>
              <a:gd name="connsiteY2" fmla="*/ 720000 h 720000"/>
              <a:gd name="connsiteX3" fmla="*/ 0 w 2072362"/>
              <a:gd name="connsiteY3" fmla="*/ 720000 h 720000"/>
              <a:gd name="connsiteX4" fmla="*/ 0 w 2072362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2362" h="720000">
                <a:moveTo>
                  <a:pt x="0" y="0"/>
                </a:moveTo>
                <a:lnTo>
                  <a:pt x="2072362" y="0"/>
                </a:lnTo>
                <a:lnTo>
                  <a:pt x="2072362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/>
              <a:t>Greedy 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11857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30" grpId="0"/>
      <p:bldP spid="32" grpId="0" animBg="1"/>
      <p:bldP spid="34" grpId="0"/>
      <p:bldP spid="36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E9372-10C9-4FE2-AA18-D3757770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Common Terms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CB26-C7B5-4926-8F38-01AA28C00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 b="1" dirty="0"/>
              <a:t>Root Node:  </a:t>
            </a:r>
            <a:r>
              <a:rPr lang="en-US" sz="1700" dirty="0"/>
              <a:t>The initial node at the beginning of a decision tree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 b="1" dirty="0"/>
              <a:t>Decision Node: </a:t>
            </a:r>
            <a:r>
              <a:rPr lang="en-US" sz="1700" dirty="0"/>
              <a:t>A node shows a decision to be made.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 b="1" dirty="0"/>
              <a:t>Lead Node: </a:t>
            </a:r>
            <a:r>
              <a:rPr lang="en-US" sz="1700" dirty="0"/>
              <a:t>Node where further splitting is not possible, end node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 b="1" dirty="0"/>
              <a:t>Sub Tree: </a:t>
            </a:r>
            <a:r>
              <a:rPr lang="en-US" sz="1700" dirty="0"/>
              <a:t>A sub section of the entire tree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06C04-4F4E-47CE-849C-FC29852F5B1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Decision Trees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003F3-F17A-4CAC-B7CA-4C498BA84E7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36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22BB14-4101-2332-FD00-0D5D4A4624AB}"/>
              </a:ext>
            </a:extLst>
          </p:cNvPr>
          <p:cNvGrpSpPr/>
          <p:nvPr/>
        </p:nvGrpSpPr>
        <p:grpSpPr>
          <a:xfrm>
            <a:off x="5120630" y="1491440"/>
            <a:ext cx="6656832" cy="4317342"/>
            <a:chOff x="5120630" y="1491440"/>
            <a:chExt cx="6656832" cy="4317342"/>
          </a:xfrm>
        </p:grpSpPr>
        <p:pic>
          <p:nvPicPr>
            <p:cNvPr id="24" name="Picture 23" descr="A diagram of a decision tree&#10;&#10;Description automatically generated">
              <a:extLst>
                <a:ext uri="{FF2B5EF4-FFF2-40B4-BE49-F238E27FC236}">
                  <a16:creationId xmlns:a16="http://schemas.microsoft.com/office/drawing/2014/main" id="{EC13DDAE-CD2A-E6E5-7142-A1DFAEA4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0630" y="1491440"/>
              <a:ext cx="6656832" cy="374446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A55755-FCD4-2062-2B62-B6FB5054822E}"/>
                </a:ext>
              </a:extLst>
            </p:cNvPr>
            <p:cNvSpPr txBox="1"/>
            <p:nvPr/>
          </p:nvSpPr>
          <p:spPr>
            <a:xfrm>
              <a:off x="7033189" y="5439450"/>
              <a:ext cx="348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Common Decision Tree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42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Working Principle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D88E8B5-C20C-47A1-9C22-B545284DA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At each node, the algorithm chooses the best feature to split the data into subsets.</a:t>
            </a:r>
          </a:p>
          <a:p>
            <a:r>
              <a:rPr lang="en-US" sz="1700" dirty="0"/>
              <a:t> The split is based on the feature value that best separates the data points belonging to different classes (for classification) or values (for regression).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A803AF1-C09B-4905-8AEE-15B680F6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4340" y="634141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Decision Trees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A06BCBE-7F1D-4794-A964-0B03C617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5688" y="6356350"/>
            <a:ext cx="21214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C49890-3D1C-FA0D-D121-529BF2779D0F}"/>
              </a:ext>
            </a:extLst>
          </p:cNvPr>
          <p:cNvGrpSpPr/>
          <p:nvPr/>
        </p:nvGrpSpPr>
        <p:grpSpPr>
          <a:xfrm>
            <a:off x="5300054" y="514077"/>
            <a:ext cx="5714692" cy="5751405"/>
            <a:chOff x="5300054" y="514077"/>
            <a:chExt cx="5714692" cy="57514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97CBF3-9439-FAA9-F9C4-5EE2C5159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0054" y="514077"/>
              <a:ext cx="5714692" cy="496403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8F0899-156D-ABEF-9D3F-619AD1AD1766}"/>
                </a:ext>
              </a:extLst>
            </p:cNvPr>
            <p:cNvSpPr txBox="1"/>
            <p:nvPr/>
          </p:nvSpPr>
          <p:spPr>
            <a:xfrm>
              <a:off x="7164197" y="5896150"/>
              <a:ext cx="3171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Iris Dataset DT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518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E3ED910-979B-508F-0B2C-9AC32A06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36EA369-C517-71AE-A333-1FAED0106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072" y="638176"/>
            <a:ext cx="11151471" cy="558164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78" y="2341112"/>
            <a:ext cx="7690243" cy="8651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CART Training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0002" y="3474437"/>
            <a:ext cx="8391994" cy="956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chemeClr val="tx1"/>
                </a:solidFill>
              </a:rPr>
              <a:t>DT are used for Classification and Regression that is why it is called as Classification and Regression Trees (CART) Algorithm.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80C1AD-8416-EEC2-E3FC-A6A726BE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1992" y="272416"/>
            <a:ext cx="128016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or Entropy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3D88E8B5-C20C-47A1-9C22-B545284DA4A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58239" y="2203574"/>
                <a:ext cx="8942105" cy="2968512"/>
              </a:xfrm>
            </p:spPr>
            <p:txBody>
              <a:bodyPr/>
              <a:lstStyle/>
              <a:p>
                <a:r>
                  <a:rPr lang="en-US" dirty="0"/>
                  <a:t>Determination of impurity / Measure of disorder / Measure of Randomness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 − </m:t>
                    </m:r>
                    <m:nary>
                      <m:naryPr>
                        <m:chr m:val="∑"/>
                        <m:limLoc m:val="undOvr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Default setup is </a:t>
                </a:r>
                <a:r>
                  <a:rPr lang="en-US" dirty="0" err="1"/>
                  <a:t>gini</a:t>
                </a:r>
                <a:r>
                  <a:rPr lang="en-US" dirty="0"/>
                  <a:t>.</a:t>
                </a:r>
                <a:endParaRPr lang="en-US" sz="1800" kern="100" dirty="0">
                  <a:effectLst/>
                  <a:latin typeface="Aptos" panose="020B000402020202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If stable and orderly; the entropy is 0.</a:t>
                </a:r>
              </a:p>
              <a:p>
                <a:r>
                  <a:rPr lang="en-US" dirty="0"/>
                  <a:t>If a set contains only one class of samples, the entropy is 0. </a:t>
                </a:r>
              </a:p>
              <a:p>
                <a:r>
                  <a:rPr lang="en-US" dirty="0"/>
                  <a:t>Entropy makes balanced tree.</a:t>
                </a:r>
              </a:p>
              <a:p>
                <a:endParaRPr lang="en-US" dirty="0"/>
              </a:p>
              <a:p>
                <a:endParaRPr lang="en-US" sz="1800" kern="100" dirty="0">
                  <a:effectLst/>
                  <a:latin typeface="Aptos" panose="020B000402020202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3D88E8B5-C20C-47A1-9C22-B545284DA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58239" y="2203574"/>
                <a:ext cx="8942105" cy="2968512"/>
              </a:xfrm>
              <a:blipFill>
                <a:blip r:embed="rId2"/>
                <a:stretch>
                  <a:fillRect l="-409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A803AF1-C09B-4905-8AEE-15B680F6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Decision Trees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A06BCBE-7F1D-4794-A964-0B03C617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66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F6EA5-1EEF-4F8D-A202-227127F3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Advantages and Disadvantages 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2AD97-6712-4E23-9D09-2FCFC43DE6FA}"/>
              </a:ext>
            </a:extLst>
          </p:cNvPr>
          <p:cNvSpPr>
            <a:spLocks/>
          </p:cNvSpPr>
          <p:nvPr/>
        </p:nvSpPr>
        <p:spPr>
          <a:xfrm>
            <a:off x="1612006" y="2394908"/>
            <a:ext cx="2934653" cy="2646408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en-US" sz="2400" b="1" dirty="0"/>
              <a:t>Advantages </a:t>
            </a:r>
          </a:p>
          <a:p>
            <a:pPr marL="285750" indent="-285750" defTabSz="813816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Flexible</a:t>
            </a:r>
          </a:p>
          <a:p>
            <a:pPr marL="285750" indent="-285750" defTabSz="813816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feature scaling </a:t>
            </a:r>
          </a:p>
          <a:p>
            <a:pPr marL="285750" indent="-285750" defTabSz="813816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Interpretability </a:t>
            </a:r>
          </a:p>
          <a:p>
            <a:pPr marL="285750" indent="-285750" defTabSz="813816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6909A-6871-4C18-9DB4-D10F772A4EC0}"/>
              </a:ext>
            </a:extLst>
          </p:cNvPr>
          <p:cNvSpPr>
            <a:spLocks/>
          </p:cNvSpPr>
          <p:nvPr/>
        </p:nvSpPr>
        <p:spPr>
          <a:xfrm>
            <a:off x="6706890" y="2394908"/>
            <a:ext cx="2934653" cy="2646407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en-US" sz="2400" b="1" dirty="0"/>
              <a:t>Disadvantages</a:t>
            </a:r>
          </a:p>
          <a:p>
            <a:pPr marL="285750" indent="-285750" defTabSz="813816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Overfitting </a:t>
            </a:r>
          </a:p>
          <a:p>
            <a:pPr marL="285750" indent="-285750" defTabSz="813816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Sensitivity to Data Changes </a:t>
            </a:r>
            <a:endParaRPr lang="en-US" sz="18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54300-48D9-44C9-AE06-2EF38D9C7195}"/>
              </a:ext>
            </a:extLst>
          </p:cNvPr>
          <p:cNvSpPr>
            <a:spLocks/>
          </p:cNvSpPr>
          <p:nvPr/>
        </p:nvSpPr>
        <p:spPr>
          <a:xfrm>
            <a:off x="5815418" y="6387409"/>
            <a:ext cx="3668316" cy="325506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Decision Trees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8890F-0304-4336-8A5F-BCCA24EADE2D}"/>
              </a:ext>
            </a:extLst>
          </p:cNvPr>
          <p:cNvSpPr>
            <a:spLocks/>
          </p:cNvSpPr>
          <p:nvPr/>
        </p:nvSpPr>
        <p:spPr>
          <a:xfrm>
            <a:off x="10969228" y="6387409"/>
            <a:ext cx="2445544" cy="325506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554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2E3A-DB80-46C8-A227-EE0F7E87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Thank you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183902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BB8335-F249-4F37-8C3F-A672116EB8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5288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2528</TotalTime>
  <Words>331</Words>
  <Application>Microsoft Office PowerPoint</Application>
  <PresentationFormat>Widescreen</PresentationFormat>
  <Paragraphs>62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Avenir Next LT Pro</vt:lpstr>
      <vt:lpstr>Calibri</vt:lpstr>
      <vt:lpstr>Cambria Math</vt:lpstr>
      <vt:lpstr>Segoe UI</vt:lpstr>
      <vt:lpstr>Wingdings</vt:lpstr>
      <vt:lpstr>AccentBoxVTI</vt:lpstr>
      <vt:lpstr>Decision Trees</vt:lpstr>
      <vt:lpstr>Agenda</vt:lpstr>
      <vt:lpstr>Introduction</vt:lpstr>
      <vt:lpstr>Common Terms </vt:lpstr>
      <vt:lpstr>Working Principle</vt:lpstr>
      <vt:lpstr>CART Training Algorithm</vt:lpstr>
      <vt:lpstr>Gini or Entropy </vt:lpstr>
      <vt:lpstr>Advantages and Disadvantages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우마르 무하마드</dc:creator>
  <cp:lastModifiedBy>우마르 무하마드</cp:lastModifiedBy>
  <cp:revision>3</cp:revision>
  <dcterms:created xsi:type="dcterms:W3CDTF">2024-04-23T07:46:06Z</dcterms:created>
  <dcterms:modified xsi:type="dcterms:W3CDTF">2024-04-25T01:55:02Z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