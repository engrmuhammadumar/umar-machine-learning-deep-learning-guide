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89" r:id="rId7"/>
    <p:sldId id="286" r:id="rId8"/>
    <p:sldId id="288" r:id="rId9"/>
    <p:sldId id="290" r:id="rId10"/>
    <p:sldId id="294" r:id="rId11"/>
    <p:sldId id="291" r:id="rId12"/>
    <p:sldId id="297" r:id="rId13"/>
    <p:sldId id="29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646" autoAdjust="0"/>
  </p:normalViewPr>
  <p:slideViewPr>
    <p:cSldViewPr snapToGrid="0">
      <p:cViewPr varScale="1">
        <p:scale>
          <a:sx n="109" d="100"/>
          <a:sy n="109" d="100"/>
        </p:scale>
        <p:origin x="612" y="10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6" r:id="rId9"/>
    <p:sldLayoutId id="2147483661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59" y="2426677"/>
            <a:ext cx="7360687" cy="1002323"/>
          </a:xfrm>
        </p:spPr>
        <p:txBody>
          <a:bodyPr anchor="b">
            <a:normAutofit/>
          </a:bodyPr>
          <a:lstStyle/>
          <a:p>
            <a:pPr algn="ctr"/>
            <a:r>
              <a:rPr lang="en-US" sz="4800"/>
              <a:t>Support Vector Machines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99A9CF-8221-8D1C-D9DB-D65AD14729E2}"/>
              </a:ext>
            </a:extLst>
          </p:cNvPr>
          <p:cNvSpPr txBox="1"/>
          <p:nvPr/>
        </p:nvSpPr>
        <p:spPr>
          <a:xfrm>
            <a:off x="405259" y="3797760"/>
            <a:ext cx="6245912" cy="188189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bg1"/>
                </a:solidFill>
              </a:rPr>
              <a:t>Presented by:</a:t>
            </a:r>
          </a:p>
          <a:p>
            <a:pPr lvl="4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bg1"/>
                </a:solidFill>
              </a:rPr>
              <a:t>Muhammad Umar </a:t>
            </a:r>
          </a:p>
          <a:p>
            <a:pPr lvl="4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bg1"/>
                </a:solidFill>
              </a:rPr>
              <a:t>UIAI Lab</a:t>
            </a:r>
            <a:endParaRPr lang="en-US" sz="2400" kern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5" y="817685"/>
            <a:ext cx="3061444" cy="102875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Introduction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Basic Concept of SVM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Working of SVM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Tuning Parameters in SVM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Applications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Pros and Cons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Conclusion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3" y="768350"/>
            <a:ext cx="5919108" cy="87757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/>
          </a:bodyPr>
          <a:lstStyle/>
          <a:p>
            <a:r>
              <a:rPr lang="en-US" dirty="0"/>
              <a:t>SVM is considered one of most efficient algorithms</a:t>
            </a:r>
          </a:p>
          <a:p>
            <a:r>
              <a:rPr lang="en-US" dirty="0"/>
              <a:t>It is a supervised learning model</a:t>
            </a:r>
          </a:p>
          <a:p>
            <a:r>
              <a:rPr lang="en-US" dirty="0"/>
              <a:t>Learns from labelled data (inputs with outputs)</a:t>
            </a:r>
          </a:p>
          <a:p>
            <a:r>
              <a:rPr lang="en-US" dirty="0"/>
              <a:t>It can represent both linear and nonlinear functions</a:t>
            </a:r>
          </a:p>
          <a:p>
            <a:r>
              <a:rPr lang="en-US" dirty="0"/>
              <a:t>It is used in Machine Learning for Classification and Regression tasks</a:t>
            </a:r>
          </a:p>
          <a:p>
            <a:r>
              <a:rPr lang="en-US" dirty="0"/>
              <a:t>Creates a hyperplane (decision boundary) to categorize new data points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740" y="384942"/>
            <a:ext cx="5486400" cy="8001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/>
          <a:lstStyle/>
          <a:p>
            <a:pPr algn="ctr"/>
            <a:r>
              <a:rPr lang="en-US" sz="3600" dirty="0"/>
              <a:t>Basic Concept of SVM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0E81B-961A-860E-190A-DB9939938144}"/>
              </a:ext>
            </a:extLst>
          </p:cNvPr>
          <p:cNvSpPr txBox="1"/>
          <p:nvPr/>
        </p:nvSpPr>
        <p:spPr>
          <a:xfrm>
            <a:off x="3141730" y="1465993"/>
            <a:ext cx="619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Which line will classify the unseen data well?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943BF08-B975-2D1A-3B7B-3F67181FBD29}"/>
              </a:ext>
            </a:extLst>
          </p:cNvPr>
          <p:cNvGrpSpPr/>
          <p:nvPr/>
        </p:nvGrpSpPr>
        <p:grpSpPr>
          <a:xfrm>
            <a:off x="230952" y="2331425"/>
            <a:ext cx="3557645" cy="3782322"/>
            <a:chOff x="2655552" y="1431235"/>
            <a:chExt cx="3557645" cy="378232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2A37693-3CB6-1A1A-6BC9-DCB7F6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2702554" y="4658233"/>
              <a:ext cx="34114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E8D2FB7-115A-76A3-8E0E-EDC8F4C057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5552" y="1431235"/>
              <a:ext cx="47002" cy="32269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DD11A3-0795-58BA-0301-E25B5FFA4CC5}"/>
                </a:ext>
              </a:extLst>
            </p:cNvPr>
            <p:cNvSpPr/>
            <p:nvPr/>
          </p:nvSpPr>
          <p:spPr>
            <a:xfrm>
              <a:off x="4135088" y="2116769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83D5549-69A0-26B3-0EE2-D7C65DA353F4}"/>
                </a:ext>
              </a:extLst>
            </p:cNvPr>
            <p:cNvSpPr/>
            <p:nvPr/>
          </p:nvSpPr>
          <p:spPr>
            <a:xfrm>
              <a:off x="4656821" y="1945057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4E90FA-AE5D-8F5B-FCBD-6991B9E74934}"/>
                </a:ext>
              </a:extLst>
            </p:cNvPr>
            <p:cNvSpPr/>
            <p:nvPr/>
          </p:nvSpPr>
          <p:spPr>
            <a:xfrm>
              <a:off x="4402700" y="2274513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40AD478-C35B-C475-61CF-977DCA0C0479}"/>
                </a:ext>
              </a:extLst>
            </p:cNvPr>
            <p:cNvSpPr/>
            <p:nvPr/>
          </p:nvSpPr>
          <p:spPr>
            <a:xfrm>
              <a:off x="4948729" y="2285939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B4ADEA4-EDCC-07EF-CB2C-A0D23DA62368}"/>
                </a:ext>
              </a:extLst>
            </p:cNvPr>
            <p:cNvSpPr/>
            <p:nvPr/>
          </p:nvSpPr>
          <p:spPr>
            <a:xfrm>
              <a:off x="4752664" y="2722070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B322CDE-E176-5F28-3512-22501B3B925E}"/>
                </a:ext>
              </a:extLst>
            </p:cNvPr>
            <p:cNvSpPr/>
            <p:nvPr/>
          </p:nvSpPr>
          <p:spPr>
            <a:xfrm>
              <a:off x="5299468" y="2355627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D8FA2AA-DD2A-6445-2597-3C3A27970253}"/>
                </a:ext>
              </a:extLst>
            </p:cNvPr>
            <p:cNvSpPr/>
            <p:nvPr/>
          </p:nvSpPr>
          <p:spPr>
            <a:xfrm>
              <a:off x="4179727" y="2544331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78F08C-497C-2FD7-411F-CE1E6D095D3A}"/>
                </a:ext>
              </a:extLst>
            </p:cNvPr>
            <p:cNvSpPr/>
            <p:nvPr/>
          </p:nvSpPr>
          <p:spPr>
            <a:xfrm>
              <a:off x="4948729" y="2561034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8964744-209E-9DAD-BA51-EAE207BCCDDA}"/>
                </a:ext>
              </a:extLst>
            </p:cNvPr>
            <p:cNvSpPr/>
            <p:nvPr/>
          </p:nvSpPr>
          <p:spPr>
            <a:xfrm>
              <a:off x="4485609" y="2590187"/>
              <a:ext cx="137744" cy="131883"/>
            </a:xfrm>
            <a:prstGeom prst="ellipse">
              <a:avLst/>
            </a:prstGeom>
            <a:ln w="3810"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E3E2D7A-4DA9-BAE9-9F7C-C7A407B3EB88}"/>
                </a:ext>
              </a:extLst>
            </p:cNvPr>
            <p:cNvSpPr/>
            <p:nvPr/>
          </p:nvSpPr>
          <p:spPr>
            <a:xfrm>
              <a:off x="2897363" y="3544395"/>
              <a:ext cx="97809" cy="81886"/>
            </a:xfrm>
            <a:prstGeom prst="triangle">
              <a:avLst/>
            </a:prstGeom>
            <a:ln w="381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6F88BF81-22DA-768F-1871-63636F310D65}"/>
                </a:ext>
              </a:extLst>
            </p:cNvPr>
            <p:cNvSpPr/>
            <p:nvPr/>
          </p:nvSpPr>
          <p:spPr>
            <a:xfrm>
              <a:off x="3491411" y="3244758"/>
              <a:ext cx="97809" cy="81886"/>
            </a:xfrm>
            <a:prstGeom prst="triangle">
              <a:avLst/>
            </a:prstGeom>
            <a:ln w="381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62EFE2B-4785-C50D-EBE6-57442DB22E94}"/>
                </a:ext>
              </a:extLst>
            </p:cNvPr>
            <p:cNvSpPr/>
            <p:nvPr/>
          </p:nvSpPr>
          <p:spPr>
            <a:xfrm>
              <a:off x="3189980" y="3830835"/>
              <a:ext cx="97809" cy="81886"/>
            </a:xfrm>
            <a:prstGeom prst="triangle">
              <a:avLst/>
            </a:prstGeom>
            <a:ln w="381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D3BF73DA-DBD9-6BBB-3AF8-B897E69EE657}"/>
                </a:ext>
              </a:extLst>
            </p:cNvPr>
            <p:cNvSpPr/>
            <p:nvPr/>
          </p:nvSpPr>
          <p:spPr>
            <a:xfrm>
              <a:off x="3189980" y="3122598"/>
              <a:ext cx="97809" cy="81886"/>
            </a:xfrm>
            <a:prstGeom prst="triangle">
              <a:avLst/>
            </a:prstGeom>
            <a:ln w="381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3744919A-CA6D-A5DC-52FC-2F477149772D}"/>
                </a:ext>
              </a:extLst>
            </p:cNvPr>
            <p:cNvSpPr/>
            <p:nvPr/>
          </p:nvSpPr>
          <p:spPr>
            <a:xfrm>
              <a:off x="3532974" y="3706726"/>
              <a:ext cx="97809" cy="81886"/>
            </a:xfrm>
            <a:prstGeom prst="triangle">
              <a:avLst/>
            </a:prstGeom>
            <a:ln w="381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2FC5FB1F-6FA4-DBB2-E652-0223E67027A6}"/>
                </a:ext>
              </a:extLst>
            </p:cNvPr>
            <p:cNvSpPr/>
            <p:nvPr/>
          </p:nvSpPr>
          <p:spPr>
            <a:xfrm>
              <a:off x="3228692" y="3503452"/>
              <a:ext cx="97809" cy="81886"/>
            </a:xfrm>
            <a:prstGeom prst="triangle">
              <a:avLst/>
            </a:prstGeom>
            <a:ln w="381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BB518903-CB47-D181-AFC3-0B238CB0D99D}"/>
                </a:ext>
              </a:extLst>
            </p:cNvPr>
            <p:cNvSpPr/>
            <p:nvPr/>
          </p:nvSpPr>
          <p:spPr>
            <a:xfrm>
              <a:off x="3940130" y="3986243"/>
              <a:ext cx="97809" cy="81886"/>
            </a:xfrm>
            <a:prstGeom prst="triangle">
              <a:avLst/>
            </a:prstGeom>
            <a:ln w="381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C4D28C-9DDD-16BE-81F7-23E43631EFF0}"/>
                </a:ext>
              </a:extLst>
            </p:cNvPr>
            <p:cNvCxnSpPr>
              <a:cxnSpLocks/>
            </p:cNvCxnSpPr>
            <p:nvPr/>
          </p:nvCxnSpPr>
          <p:spPr>
            <a:xfrm>
              <a:off x="3383237" y="1668848"/>
              <a:ext cx="2018543" cy="29014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18FE12-546A-DB98-B8B2-1D76EB8D63EC}"/>
                </a:ext>
              </a:extLst>
            </p:cNvPr>
            <p:cNvCxnSpPr>
              <a:cxnSpLocks/>
            </p:cNvCxnSpPr>
            <p:nvPr/>
          </p:nvCxnSpPr>
          <p:spPr>
            <a:xfrm>
              <a:off x="2728420" y="1839670"/>
              <a:ext cx="3286153" cy="26427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8FEEB27-76F3-B98A-411A-C80E5F5588EC}"/>
                </a:ext>
              </a:extLst>
            </p:cNvPr>
            <p:cNvCxnSpPr>
              <a:cxnSpLocks/>
            </p:cNvCxnSpPr>
            <p:nvPr/>
          </p:nvCxnSpPr>
          <p:spPr>
            <a:xfrm>
              <a:off x="2765186" y="2487510"/>
              <a:ext cx="3448011" cy="101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D727282-AA38-63D4-4998-4F2FAB6E97B4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33" y="2885580"/>
              <a:ext cx="3030805" cy="1272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721F603-2AF4-26E2-2712-F4F92E84F757}"/>
                </a:ext>
              </a:extLst>
            </p:cNvPr>
            <p:cNvCxnSpPr>
              <a:cxnSpLocks/>
            </p:cNvCxnSpPr>
            <p:nvPr/>
          </p:nvCxnSpPr>
          <p:spPr>
            <a:xfrm>
              <a:off x="2892860" y="1776025"/>
              <a:ext cx="2712412" cy="3116932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887DAD6-D29D-7403-5D32-C37C47887FEA}"/>
                </a:ext>
              </a:extLst>
            </p:cNvPr>
            <p:cNvSpPr txBox="1"/>
            <p:nvPr/>
          </p:nvSpPr>
          <p:spPr>
            <a:xfrm>
              <a:off x="3250764" y="4844225"/>
              <a:ext cx="2812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Figure: Intuition of SVM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DC33EDB-9526-B0D8-E851-FEAF7D7A7226}"/>
              </a:ext>
            </a:extLst>
          </p:cNvPr>
          <p:cNvGrpSpPr/>
          <p:nvPr/>
        </p:nvGrpSpPr>
        <p:grpSpPr>
          <a:xfrm>
            <a:off x="2909001" y="1901739"/>
            <a:ext cx="4894991" cy="747836"/>
            <a:chOff x="2909001" y="1901739"/>
            <a:chExt cx="4894991" cy="747836"/>
          </a:xfrm>
        </p:grpSpPr>
        <p:sp>
          <p:nvSpPr>
            <p:cNvPr id="42" name="Title 1">
              <a:extLst>
                <a:ext uri="{FF2B5EF4-FFF2-40B4-BE49-F238E27FC236}">
                  <a16:creationId xmlns:a16="http://schemas.microsoft.com/office/drawing/2014/main" id="{7A5A5BA6-6449-7332-41E9-6326193CB0C4}"/>
                </a:ext>
              </a:extLst>
            </p:cNvPr>
            <p:cNvSpPr txBox="1">
              <a:spLocks/>
            </p:cNvSpPr>
            <p:nvPr/>
          </p:nvSpPr>
          <p:spPr>
            <a:xfrm>
              <a:off x="2909001" y="2005855"/>
              <a:ext cx="4894991" cy="626351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algn="l" defTabSz="914400" rtl="0" eaLnBrk="1" latinLnBrk="0" hangingPunct="1">
                <a:lnSpc>
                  <a:spcPct val="80000"/>
                </a:lnSpc>
                <a:spcBef>
                  <a:spcPct val="0"/>
                </a:spcBef>
                <a:buNone/>
                <a:defRPr sz="6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600" dirty="0"/>
                <a:t>The dotted line!</a:t>
              </a:r>
            </a:p>
          </p:txBody>
        </p:sp>
        <p:pic>
          <p:nvPicPr>
            <p:cNvPr id="44" name="Graphic 43" descr="Smiling with hearts face outline outline">
              <a:extLst>
                <a:ext uri="{FF2B5EF4-FFF2-40B4-BE49-F238E27FC236}">
                  <a16:creationId xmlns:a16="http://schemas.microsoft.com/office/drawing/2014/main" id="{B3C9B302-C4D0-E2B3-8263-CA9D49664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06198" y="1901739"/>
              <a:ext cx="747836" cy="747836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F90E81B-961A-860E-190A-DB9939938144}"/>
              </a:ext>
            </a:extLst>
          </p:cNvPr>
          <p:cNvSpPr txBox="1"/>
          <p:nvPr/>
        </p:nvSpPr>
        <p:spPr>
          <a:xfrm>
            <a:off x="3266205" y="2706639"/>
            <a:ext cx="619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Exactly, the line is with maximum margin. 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A780BF2-C769-DEF4-D8AA-7072E09E51CC}"/>
              </a:ext>
            </a:extLst>
          </p:cNvPr>
          <p:cNvGrpSpPr/>
          <p:nvPr/>
        </p:nvGrpSpPr>
        <p:grpSpPr>
          <a:xfrm>
            <a:off x="8205362" y="2139295"/>
            <a:ext cx="4179448" cy="3843846"/>
            <a:chOff x="5309735" y="3095255"/>
            <a:chExt cx="4179448" cy="384384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34E6E5F-0A6E-E970-DD47-B06C28DE2089}"/>
                </a:ext>
              </a:extLst>
            </p:cNvPr>
            <p:cNvGrpSpPr/>
            <p:nvPr/>
          </p:nvGrpSpPr>
          <p:grpSpPr>
            <a:xfrm>
              <a:off x="5309735" y="3226353"/>
              <a:ext cx="3499979" cy="3712748"/>
              <a:chOff x="2613991" y="1500809"/>
              <a:chExt cx="3499979" cy="3712748"/>
            </a:xfrm>
          </p:grpSpPr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B315E5B-5021-7B92-3E94-13488E70AD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13991" y="1500809"/>
                <a:ext cx="88563" cy="31574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1FD6B5C0-BF75-CC2E-94EC-62AEFEFFD869}"/>
                  </a:ext>
                </a:extLst>
              </p:cNvPr>
              <p:cNvGrpSpPr/>
              <p:nvPr/>
            </p:nvGrpSpPr>
            <p:grpSpPr>
              <a:xfrm>
                <a:off x="2702554" y="1644443"/>
                <a:ext cx="3411416" cy="3569114"/>
                <a:chOff x="2702554" y="1644443"/>
                <a:chExt cx="3411416" cy="3569114"/>
              </a:xfrm>
            </p:grpSpPr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C1B2EF04-FAF2-A9A2-9F7B-7078A3D6759B}"/>
                    </a:ext>
                  </a:extLst>
                </p:cNvPr>
                <p:cNvCxnSpPr/>
                <p:nvPr/>
              </p:nvCxnSpPr>
              <p:spPr>
                <a:xfrm>
                  <a:off x="2702554" y="4658233"/>
                  <a:ext cx="341141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F880D772-FF5D-26F6-9471-41DE3CB3E5D7}"/>
                    </a:ext>
                  </a:extLst>
                </p:cNvPr>
                <p:cNvSpPr/>
                <p:nvPr/>
              </p:nvSpPr>
              <p:spPr>
                <a:xfrm>
                  <a:off x="4135088" y="2116769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F7D03842-221C-D190-BEC3-B192CD8F63FC}"/>
                    </a:ext>
                  </a:extLst>
                </p:cNvPr>
                <p:cNvSpPr/>
                <p:nvPr/>
              </p:nvSpPr>
              <p:spPr>
                <a:xfrm>
                  <a:off x="4656821" y="1945057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BF1E4129-2FFA-850A-6C3B-7B0A45123CFF}"/>
                    </a:ext>
                  </a:extLst>
                </p:cNvPr>
                <p:cNvSpPr/>
                <p:nvPr/>
              </p:nvSpPr>
              <p:spPr>
                <a:xfrm>
                  <a:off x="4402700" y="2274513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B3BEBA67-ABDD-269D-13CF-904F0E2F1A3E}"/>
                    </a:ext>
                  </a:extLst>
                </p:cNvPr>
                <p:cNvSpPr/>
                <p:nvPr/>
              </p:nvSpPr>
              <p:spPr>
                <a:xfrm>
                  <a:off x="4807995" y="2182776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052E4741-773C-7407-875C-746042BE5951}"/>
                    </a:ext>
                  </a:extLst>
                </p:cNvPr>
                <p:cNvSpPr/>
                <p:nvPr/>
              </p:nvSpPr>
              <p:spPr>
                <a:xfrm>
                  <a:off x="4752664" y="2722070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3844CDCA-94B1-FD9B-1C66-581D14DC99D6}"/>
                    </a:ext>
                  </a:extLst>
                </p:cNvPr>
                <p:cNvSpPr/>
                <p:nvPr/>
              </p:nvSpPr>
              <p:spPr>
                <a:xfrm>
                  <a:off x="5299468" y="2355627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D7D1E618-672F-9C91-B606-AED50F4FE743}"/>
                    </a:ext>
                  </a:extLst>
                </p:cNvPr>
                <p:cNvSpPr/>
                <p:nvPr/>
              </p:nvSpPr>
              <p:spPr>
                <a:xfrm>
                  <a:off x="4179727" y="2544331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8640BC4D-C23C-8D8C-6B4B-87ACE0C9A3FF}"/>
                    </a:ext>
                  </a:extLst>
                </p:cNvPr>
                <p:cNvSpPr/>
                <p:nvPr/>
              </p:nvSpPr>
              <p:spPr>
                <a:xfrm>
                  <a:off x="4948729" y="2561034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F1E4CF06-B9D3-D64F-E3DC-F582BB725E10}"/>
                    </a:ext>
                  </a:extLst>
                </p:cNvPr>
                <p:cNvSpPr/>
                <p:nvPr/>
              </p:nvSpPr>
              <p:spPr>
                <a:xfrm>
                  <a:off x="4490862" y="2617692"/>
                  <a:ext cx="137744" cy="131883"/>
                </a:xfrm>
                <a:prstGeom prst="ellipse">
                  <a:avLst/>
                </a:prstGeom>
                <a:ln w="3810"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" name="Isosceles Triangle 75">
                  <a:extLst>
                    <a:ext uri="{FF2B5EF4-FFF2-40B4-BE49-F238E27FC236}">
                      <a16:creationId xmlns:a16="http://schemas.microsoft.com/office/drawing/2014/main" id="{F054D42E-CDB6-6FFD-B1EB-61108ED63616}"/>
                    </a:ext>
                  </a:extLst>
                </p:cNvPr>
                <p:cNvSpPr/>
                <p:nvPr/>
              </p:nvSpPr>
              <p:spPr>
                <a:xfrm>
                  <a:off x="2897363" y="3544395"/>
                  <a:ext cx="97809" cy="81886"/>
                </a:xfrm>
                <a:prstGeom prst="triangle">
                  <a:avLst/>
                </a:prstGeom>
                <a:ln w="381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Isosceles Triangle 76">
                  <a:extLst>
                    <a:ext uri="{FF2B5EF4-FFF2-40B4-BE49-F238E27FC236}">
                      <a16:creationId xmlns:a16="http://schemas.microsoft.com/office/drawing/2014/main" id="{E9C296D1-CBBF-71D8-644D-52635EF808E8}"/>
                    </a:ext>
                  </a:extLst>
                </p:cNvPr>
                <p:cNvSpPr/>
                <p:nvPr/>
              </p:nvSpPr>
              <p:spPr>
                <a:xfrm>
                  <a:off x="3491411" y="3244758"/>
                  <a:ext cx="97809" cy="81886"/>
                </a:xfrm>
                <a:prstGeom prst="triangle">
                  <a:avLst/>
                </a:prstGeom>
                <a:ln w="381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Isosceles Triangle 77">
                  <a:extLst>
                    <a:ext uri="{FF2B5EF4-FFF2-40B4-BE49-F238E27FC236}">
                      <a16:creationId xmlns:a16="http://schemas.microsoft.com/office/drawing/2014/main" id="{CA329039-FB33-CF3E-C21F-A9189A559D8D}"/>
                    </a:ext>
                  </a:extLst>
                </p:cNvPr>
                <p:cNvSpPr/>
                <p:nvPr/>
              </p:nvSpPr>
              <p:spPr>
                <a:xfrm>
                  <a:off x="3189980" y="3830835"/>
                  <a:ext cx="97809" cy="81886"/>
                </a:xfrm>
                <a:prstGeom prst="triangle">
                  <a:avLst/>
                </a:prstGeom>
                <a:ln w="381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Isosceles Triangle 78">
                  <a:extLst>
                    <a:ext uri="{FF2B5EF4-FFF2-40B4-BE49-F238E27FC236}">
                      <a16:creationId xmlns:a16="http://schemas.microsoft.com/office/drawing/2014/main" id="{A576BD05-3567-26B8-223B-E04D5D0385D0}"/>
                    </a:ext>
                  </a:extLst>
                </p:cNvPr>
                <p:cNvSpPr/>
                <p:nvPr/>
              </p:nvSpPr>
              <p:spPr>
                <a:xfrm>
                  <a:off x="3189980" y="3122598"/>
                  <a:ext cx="97809" cy="81886"/>
                </a:xfrm>
                <a:prstGeom prst="triangle">
                  <a:avLst/>
                </a:prstGeom>
                <a:ln w="381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Isosceles Triangle 79">
                  <a:extLst>
                    <a:ext uri="{FF2B5EF4-FFF2-40B4-BE49-F238E27FC236}">
                      <a16:creationId xmlns:a16="http://schemas.microsoft.com/office/drawing/2014/main" id="{ACEC9616-513C-FC26-51CD-7803EFF6BDCC}"/>
                    </a:ext>
                  </a:extLst>
                </p:cNvPr>
                <p:cNvSpPr/>
                <p:nvPr/>
              </p:nvSpPr>
              <p:spPr>
                <a:xfrm>
                  <a:off x="3532974" y="3706726"/>
                  <a:ext cx="97809" cy="81886"/>
                </a:xfrm>
                <a:prstGeom prst="triangle">
                  <a:avLst/>
                </a:prstGeom>
                <a:ln w="381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Isosceles Triangle 80">
                  <a:extLst>
                    <a:ext uri="{FF2B5EF4-FFF2-40B4-BE49-F238E27FC236}">
                      <a16:creationId xmlns:a16="http://schemas.microsoft.com/office/drawing/2014/main" id="{13264E28-A0D8-1BFF-367D-32A5131DE36D}"/>
                    </a:ext>
                  </a:extLst>
                </p:cNvPr>
                <p:cNvSpPr/>
                <p:nvPr/>
              </p:nvSpPr>
              <p:spPr>
                <a:xfrm>
                  <a:off x="3228692" y="3503452"/>
                  <a:ext cx="97809" cy="81886"/>
                </a:xfrm>
                <a:prstGeom prst="triangle">
                  <a:avLst/>
                </a:prstGeom>
                <a:ln w="381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Isosceles Triangle 81">
                  <a:extLst>
                    <a:ext uri="{FF2B5EF4-FFF2-40B4-BE49-F238E27FC236}">
                      <a16:creationId xmlns:a16="http://schemas.microsoft.com/office/drawing/2014/main" id="{8C88B324-203E-3992-C4B9-BA9360A9F49B}"/>
                    </a:ext>
                  </a:extLst>
                </p:cNvPr>
                <p:cNvSpPr/>
                <p:nvPr/>
              </p:nvSpPr>
              <p:spPr>
                <a:xfrm>
                  <a:off x="3940130" y="3986243"/>
                  <a:ext cx="97809" cy="81886"/>
                </a:xfrm>
                <a:prstGeom prst="triangle">
                  <a:avLst/>
                </a:prstGeom>
                <a:ln w="381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7776AA73-06B7-48E1-CB7B-B5DB99690D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42502" y="1833337"/>
                  <a:ext cx="2091301" cy="2578521"/>
                </a:xfrm>
                <a:prstGeom prst="line">
                  <a:avLst/>
                </a:prstGeom>
                <a:ln w="1905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B33E5E32-AEF7-BED1-47F5-0BCA9780E640}"/>
                    </a:ext>
                  </a:extLst>
                </p:cNvPr>
                <p:cNvSpPr txBox="1"/>
                <p:nvPr/>
              </p:nvSpPr>
              <p:spPr>
                <a:xfrm>
                  <a:off x="3250764" y="4844225"/>
                  <a:ext cx="28121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/>
                    <a:t>Figure: Support Vectors </a:t>
                  </a:r>
                </a:p>
              </p:txBody>
            </p: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C656522-4F1A-89B9-A961-C544BDA4BC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26501" y="1644443"/>
                  <a:ext cx="2172900" cy="262825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3DC11E9-DF9C-F0E3-1F30-66B1927EB7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1267" y="2076940"/>
                  <a:ext cx="1934255" cy="248564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0C8F8C90-53F3-7703-EE20-CC869D78ABE7}"/>
                </a:ext>
              </a:extLst>
            </p:cNvPr>
            <p:cNvGrpSpPr/>
            <p:nvPr/>
          </p:nvGrpSpPr>
          <p:grpSpPr>
            <a:xfrm>
              <a:off x="6206528" y="3460091"/>
              <a:ext cx="2505153" cy="2370186"/>
              <a:chOff x="6206528" y="3460091"/>
              <a:chExt cx="2505153" cy="2370186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0F4B47A-54BB-6395-9BB8-7010548955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06528" y="3470437"/>
                <a:ext cx="2505153" cy="1211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0DB0D558-3121-6958-58A7-E44ABD9022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67451" y="3460091"/>
                <a:ext cx="1144230" cy="2370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7E17E35E-FF4D-1C07-6F86-4F2CBE043D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2276" y="3469956"/>
                <a:ext cx="2449405" cy="13948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090CB1D-781B-7EBC-0B55-177ADC40160E}"/>
                </a:ext>
              </a:extLst>
            </p:cNvPr>
            <p:cNvSpPr txBox="1"/>
            <p:nvPr/>
          </p:nvSpPr>
          <p:spPr>
            <a:xfrm>
              <a:off x="7737313" y="3095255"/>
              <a:ext cx="17518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Support Vectors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22" y="800101"/>
            <a:ext cx="4500562" cy="808891"/>
          </a:xfrm>
        </p:spPr>
        <p:txBody>
          <a:bodyPr/>
          <a:lstStyle/>
          <a:p>
            <a:r>
              <a:rPr lang="en-US" sz="4000" dirty="0"/>
              <a:t>Working of SVM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422" y="2021572"/>
            <a:ext cx="10520185" cy="403632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Maximizing Margins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US" dirty="0"/>
              <a:t>SVM aim to find hyperplane that maximizes the margin between classes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Kernal Functions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US" dirty="0"/>
              <a:t>SVM use kernel functions enabling non-linear classification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Soft Margin</a:t>
            </a: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r>
              <a:rPr lang="en-US" dirty="0"/>
              <a:t>Using slack variables SVM allow for misclassifications</a:t>
            </a:r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507" y="793820"/>
            <a:ext cx="7030543" cy="841601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Tuning Parameters in SVM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9DD6AC2-7FE1-F3D5-F28F-D68B10C3FEA0}"/>
              </a:ext>
            </a:extLst>
          </p:cNvPr>
          <p:cNvSpPr/>
          <p:nvPr/>
        </p:nvSpPr>
        <p:spPr>
          <a:xfrm>
            <a:off x="419940" y="2466054"/>
            <a:ext cx="2506436" cy="1503861"/>
          </a:xfrm>
          <a:custGeom>
            <a:avLst/>
            <a:gdLst>
              <a:gd name="connsiteX0" fmla="*/ 0 w 2506436"/>
              <a:gd name="connsiteY0" fmla="*/ 0 h 1503861"/>
              <a:gd name="connsiteX1" fmla="*/ 2506436 w 2506436"/>
              <a:gd name="connsiteY1" fmla="*/ 0 h 1503861"/>
              <a:gd name="connsiteX2" fmla="*/ 2506436 w 2506436"/>
              <a:gd name="connsiteY2" fmla="*/ 1503861 h 1503861"/>
              <a:gd name="connsiteX3" fmla="*/ 0 w 2506436"/>
              <a:gd name="connsiteY3" fmla="*/ 1503861 h 1503861"/>
              <a:gd name="connsiteX4" fmla="*/ 0 w 2506436"/>
              <a:gd name="connsiteY4" fmla="*/ 0 h 150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6436" h="1503861">
                <a:moveTo>
                  <a:pt x="0" y="0"/>
                </a:moveTo>
                <a:lnTo>
                  <a:pt x="2506436" y="0"/>
                </a:lnTo>
                <a:lnTo>
                  <a:pt x="2506436" y="1503861"/>
                </a:lnTo>
                <a:lnTo>
                  <a:pt x="0" y="150386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t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 dirty="0"/>
              <a:t>Kernel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Linear kernel 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Polynomial Kernel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RBF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CC2D7C0-2BB4-25BE-3E42-612A5EFB5797}"/>
              </a:ext>
            </a:extLst>
          </p:cNvPr>
          <p:cNvSpPr/>
          <p:nvPr/>
        </p:nvSpPr>
        <p:spPr>
          <a:xfrm>
            <a:off x="3180179" y="2466054"/>
            <a:ext cx="2506436" cy="1503861"/>
          </a:xfrm>
          <a:custGeom>
            <a:avLst/>
            <a:gdLst>
              <a:gd name="connsiteX0" fmla="*/ 0 w 2506436"/>
              <a:gd name="connsiteY0" fmla="*/ 0 h 1503861"/>
              <a:gd name="connsiteX1" fmla="*/ 2506436 w 2506436"/>
              <a:gd name="connsiteY1" fmla="*/ 0 h 1503861"/>
              <a:gd name="connsiteX2" fmla="*/ 2506436 w 2506436"/>
              <a:gd name="connsiteY2" fmla="*/ 1503861 h 1503861"/>
              <a:gd name="connsiteX3" fmla="*/ 0 w 2506436"/>
              <a:gd name="connsiteY3" fmla="*/ 1503861 h 1503861"/>
              <a:gd name="connsiteX4" fmla="*/ 0 w 2506436"/>
              <a:gd name="connsiteY4" fmla="*/ 0 h 150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6436" h="1503861">
                <a:moveTo>
                  <a:pt x="0" y="0"/>
                </a:moveTo>
                <a:lnTo>
                  <a:pt x="2506436" y="0"/>
                </a:lnTo>
                <a:lnTo>
                  <a:pt x="2506436" y="1503861"/>
                </a:lnTo>
                <a:lnTo>
                  <a:pt x="0" y="150386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t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 dirty="0"/>
              <a:t>Regularization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Low Regularization 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High Regularization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D6E5EEB-4C66-947E-1C4D-CCA681BD9FAB}"/>
              </a:ext>
            </a:extLst>
          </p:cNvPr>
          <p:cNvSpPr/>
          <p:nvPr/>
        </p:nvSpPr>
        <p:spPr>
          <a:xfrm>
            <a:off x="5934099" y="2466054"/>
            <a:ext cx="2506436" cy="1503861"/>
          </a:xfrm>
          <a:custGeom>
            <a:avLst/>
            <a:gdLst>
              <a:gd name="connsiteX0" fmla="*/ 0 w 2506436"/>
              <a:gd name="connsiteY0" fmla="*/ 0 h 1503861"/>
              <a:gd name="connsiteX1" fmla="*/ 2506436 w 2506436"/>
              <a:gd name="connsiteY1" fmla="*/ 0 h 1503861"/>
              <a:gd name="connsiteX2" fmla="*/ 2506436 w 2506436"/>
              <a:gd name="connsiteY2" fmla="*/ 1503861 h 1503861"/>
              <a:gd name="connsiteX3" fmla="*/ 0 w 2506436"/>
              <a:gd name="connsiteY3" fmla="*/ 1503861 h 1503861"/>
              <a:gd name="connsiteX4" fmla="*/ 0 w 2506436"/>
              <a:gd name="connsiteY4" fmla="*/ 0 h 150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6436" h="1503861">
                <a:moveTo>
                  <a:pt x="0" y="0"/>
                </a:moveTo>
                <a:lnTo>
                  <a:pt x="2506436" y="0"/>
                </a:lnTo>
                <a:lnTo>
                  <a:pt x="2506436" y="1503861"/>
                </a:lnTo>
                <a:lnTo>
                  <a:pt x="0" y="150386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t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 dirty="0"/>
              <a:t>Gamma 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High Gamma 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Low Gamma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7EB2839-0A3B-CE43-D4DF-ED0D00EE2552}"/>
              </a:ext>
            </a:extLst>
          </p:cNvPr>
          <p:cNvSpPr/>
          <p:nvPr/>
        </p:nvSpPr>
        <p:spPr>
          <a:xfrm>
            <a:off x="8694338" y="2466054"/>
            <a:ext cx="2506436" cy="1503861"/>
          </a:xfrm>
          <a:custGeom>
            <a:avLst/>
            <a:gdLst>
              <a:gd name="connsiteX0" fmla="*/ 0 w 2506436"/>
              <a:gd name="connsiteY0" fmla="*/ 0 h 1503861"/>
              <a:gd name="connsiteX1" fmla="*/ 2506436 w 2506436"/>
              <a:gd name="connsiteY1" fmla="*/ 0 h 1503861"/>
              <a:gd name="connsiteX2" fmla="*/ 2506436 w 2506436"/>
              <a:gd name="connsiteY2" fmla="*/ 1503861 h 1503861"/>
              <a:gd name="connsiteX3" fmla="*/ 0 w 2506436"/>
              <a:gd name="connsiteY3" fmla="*/ 1503861 h 1503861"/>
              <a:gd name="connsiteX4" fmla="*/ 0 w 2506436"/>
              <a:gd name="connsiteY4" fmla="*/ 0 h 150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06436" h="1503861">
                <a:moveTo>
                  <a:pt x="0" y="0"/>
                </a:moveTo>
                <a:lnTo>
                  <a:pt x="2506436" y="0"/>
                </a:lnTo>
                <a:lnTo>
                  <a:pt x="2506436" y="1503861"/>
                </a:lnTo>
                <a:lnTo>
                  <a:pt x="0" y="150386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t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 dirty="0"/>
              <a:t>Margin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Good Margin 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Bad Margin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22ED415-170B-E91B-BB40-186C9E3B88FC}"/>
              </a:ext>
            </a:extLst>
          </p:cNvPr>
          <p:cNvSpPr/>
          <p:nvPr/>
        </p:nvSpPr>
        <p:spPr>
          <a:xfrm rot="18000000">
            <a:off x="1354976" y="3230725"/>
            <a:ext cx="1054046" cy="685130"/>
          </a:xfrm>
          <a:custGeom>
            <a:avLst/>
            <a:gdLst>
              <a:gd name="connsiteX0" fmla="*/ 114191 w 1054046"/>
              <a:gd name="connsiteY0" fmla="*/ 0 h 685130"/>
              <a:gd name="connsiteX1" fmla="*/ 939855 w 1054046"/>
              <a:gd name="connsiteY1" fmla="*/ 0 h 685130"/>
              <a:gd name="connsiteX2" fmla="*/ 1054046 w 1054046"/>
              <a:gd name="connsiteY2" fmla="*/ 114191 h 685130"/>
              <a:gd name="connsiteX3" fmla="*/ 1054046 w 1054046"/>
              <a:gd name="connsiteY3" fmla="*/ 685130 h 685130"/>
              <a:gd name="connsiteX4" fmla="*/ 1054046 w 1054046"/>
              <a:gd name="connsiteY4" fmla="*/ 685130 h 685130"/>
              <a:gd name="connsiteX5" fmla="*/ 0 w 1054046"/>
              <a:gd name="connsiteY5" fmla="*/ 685130 h 685130"/>
              <a:gd name="connsiteX6" fmla="*/ 0 w 1054046"/>
              <a:gd name="connsiteY6" fmla="*/ 685130 h 685130"/>
              <a:gd name="connsiteX7" fmla="*/ 0 w 1054046"/>
              <a:gd name="connsiteY7" fmla="*/ 114191 h 685130"/>
              <a:gd name="connsiteX8" fmla="*/ 114191 w 1054046"/>
              <a:gd name="connsiteY8" fmla="*/ 0 h 6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046" h="685130">
                <a:moveTo>
                  <a:pt x="114191" y="0"/>
                </a:moveTo>
                <a:lnTo>
                  <a:pt x="939855" y="0"/>
                </a:lnTo>
                <a:cubicBezTo>
                  <a:pt x="1002921" y="0"/>
                  <a:pt x="1054046" y="51125"/>
                  <a:pt x="1054046" y="114191"/>
                </a:cubicBezTo>
                <a:lnTo>
                  <a:pt x="1054046" y="685130"/>
                </a:lnTo>
                <a:lnTo>
                  <a:pt x="1054046" y="685130"/>
                </a:lnTo>
                <a:lnTo>
                  <a:pt x="0" y="685130"/>
                </a:lnTo>
                <a:lnTo>
                  <a:pt x="0" y="685130"/>
                </a:lnTo>
                <a:lnTo>
                  <a:pt x="0" y="114191"/>
                </a:lnTo>
                <a:cubicBezTo>
                  <a:pt x="0" y="51125"/>
                  <a:pt x="51125" y="0"/>
                  <a:pt x="114191" y="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164" tIns="48685" rIns="79165" bIns="15239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/>
              <a:t>Face Detection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B66671B-67FF-6DA0-6795-EE419796CFCC}"/>
              </a:ext>
            </a:extLst>
          </p:cNvPr>
          <p:cNvSpPr/>
          <p:nvPr/>
        </p:nvSpPr>
        <p:spPr>
          <a:xfrm rot="19028571">
            <a:off x="2206800" y="2162571"/>
            <a:ext cx="1054046" cy="685130"/>
          </a:xfrm>
          <a:custGeom>
            <a:avLst/>
            <a:gdLst>
              <a:gd name="connsiteX0" fmla="*/ 114191 w 1054046"/>
              <a:gd name="connsiteY0" fmla="*/ 0 h 685130"/>
              <a:gd name="connsiteX1" fmla="*/ 939855 w 1054046"/>
              <a:gd name="connsiteY1" fmla="*/ 0 h 685130"/>
              <a:gd name="connsiteX2" fmla="*/ 1054046 w 1054046"/>
              <a:gd name="connsiteY2" fmla="*/ 114191 h 685130"/>
              <a:gd name="connsiteX3" fmla="*/ 1054046 w 1054046"/>
              <a:gd name="connsiteY3" fmla="*/ 685130 h 685130"/>
              <a:gd name="connsiteX4" fmla="*/ 1054046 w 1054046"/>
              <a:gd name="connsiteY4" fmla="*/ 685130 h 685130"/>
              <a:gd name="connsiteX5" fmla="*/ 0 w 1054046"/>
              <a:gd name="connsiteY5" fmla="*/ 685130 h 685130"/>
              <a:gd name="connsiteX6" fmla="*/ 0 w 1054046"/>
              <a:gd name="connsiteY6" fmla="*/ 685130 h 685130"/>
              <a:gd name="connsiteX7" fmla="*/ 0 w 1054046"/>
              <a:gd name="connsiteY7" fmla="*/ 114191 h 685130"/>
              <a:gd name="connsiteX8" fmla="*/ 114191 w 1054046"/>
              <a:gd name="connsiteY8" fmla="*/ 0 h 6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046" h="685130">
                <a:moveTo>
                  <a:pt x="114191" y="0"/>
                </a:moveTo>
                <a:lnTo>
                  <a:pt x="939855" y="0"/>
                </a:lnTo>
                <a:cubicBezTo>
                  <a:pt x="1002921" y="0"/>
                  <a:pt x="1054046" y="51125"/>
                  <a:pt x="1054046" y="114191"/>
                </a:cubicBezTo>
                <a:lnTo>
                  <a:pt x="1054046" y="685130"/>
                </a:lnTo>
                <a:lnTo>
                  <a:pt x="1054046" y="685130"/>
                </a:lnTo>
                <a:lnTo>
                  <a:pt x="0" y="685130"/>
                </a:lnTo>
                <a:lnTo>
                  <a:pt x="0" y="685130"/>
                </a:lnTo>
                <a:lnTo>
                  <a:pt x="0" y="114191"/>
                </a:lnTo>
                <a:cubicBezTo>
                  <a:pt x="0" y="51125"/>
                  <a:pt x="51125" y="0"/>
                  <a:pt x="114191" y="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164" tIns="48684" rIns="79165" bIns="152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/>
              <a:t>Handwritten recognition 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777732F-474F-E700-EE3C-8B6E33DDE071}"/>
              </a:ext>
            </a:extLst>
          </p:cNvPr>
          <p:cNvSpPr/>
          <p:nvPr/>
        </p:nvSpPr>
        <p:spPr>
          <a:xfrm rot="20057143">
            <a:off x="3335623" y="1392952"/>
            <a:ext cx="1054046" cy="685130"/>
          </a:xfrm>
          <a:custGeom>
            <a:avLst/>
            <a:gdLst>
              <a:gd name="connsiteX0" fmla="*/ 114191 w 1054046"/>
              <a:gd name="connsiteY0" fmla="*/ 0 h 685130"/>
              <a:gd name="connsiteX1" fmla="*/ 939855 w 1054046"/>
              <a:gd name="connsiteY1" fmla="*/ 0 h 685130"/>
              <a:gd name="connsiteX2" fmla="*/ 1054046 w 1054046"/>
              <a:gd name="connsiteY2" fmla="*/ 114191 h 685130"/>
              <a:gd name="connsiteX3" fmla="*/ 1054046 w 1054046"/>
              <a:gd name="connsiteY3" fmla="*/ 685130 h 685130"/>
              <a:gd name="connsiteX4" fmla="*/ 1054046 w 1054046"/>
              <a:gd name="connsiteY4" fmla="*/ 685130 h 685130"/>
              <a:gd name="connsiteX5" fmla="*/ 0 w 1054046"/>
              <a:gd name="connsiteY5" fmla="*/ 685130 h 685130"/>
              <a:gd name="connsiteX6" fmla="*/ 0 w 1054046"/>
              <a:gd name="connsiteY6" fmla="*/ 685130 h 685130"/>
              <a:gd name="connsiteX7" fmla="*/ 0 w 1054046"/>
              <a:gd name="connsiteY7" fmla="*/ 114191 h 685130"/>
              <a:gd name="connsiteX8" fmla="*/ 114191 w 1054046"/>
              <a:gd name="connsiteY8" fmla="*/ 0 h 6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046" h="685130">
                <a:moveTo>
                  <a:pt x="114191" y="0"/>
                </a:moveTo>
                <a:lnTo>
                  <a:pt x="939855" y="0"/>
                </a:lnTo>
                <a:cubicBezTo>
                  <a:pt x="1002921" y="0"/>
                  <a:pt x="1054046" y="51125"/>
                  <a:pt x="1054046" y="114191"/>
                </a:cubicBezTo>
                <a:lnTo>
                  <a:pt x="1054046" y="685130"/>
                </a:lnTo>
                <a:lnTo>
                  <a:pt x="1054046" y="685130"/>
                </a:lnTo>
                <a:lnTo>
                  <a:pt x="0" y="685130"/>
                </a:lnTo>
                <a:lnTo>
                  <a:pt x="0" y="685130"/>
                </a:lnTo>
                <a:lnTo>
                  <a:pt x="0" y="114191"/>
                </a:lnTo>
                <a:cubicBezTo>
                  <a:pt x="0" y="51125"/>
                  <a:pt x="51125" y="0"/>
                  <a:pt x="114191" y="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165" tIns="48685" rIns="79164" bIns="15239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/>
              <a:t>Classification of Images 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3786AB9-8DFE-6FE3-7167-AC097CE711F7}"/>
              </a:ext>
            </a:extLst>
          </p:cNvPr>
          <p:cNvSpPr/>
          <p:nvPr/>
        </p:nvSpPr>
        <p:spPr>
          <a:xfrm rot="21085714">
            <a:off x="4641146" y="990252"/>
            <a:ext cx="1054046" cy="685130"/>
          </a:xfrm>
          <a:custGeom>
            <a:avLst/>
            <a:gdLst>
              <a:gd name="connsiteX0" fmla="*/ 114191 w 1054046"/>
              <a:gd name="connsiteY0" fmla="*/ 0 h 685130"/>
              <a:gd name="connsiteX1" fmla="*/ 939855 w 1054046"/>
              <a:gd name="connsiteY1" fmla="*/ 0 h 685130"/>
              <a:gd name="connsiteX2" fmla="*/ 1054046 w 1054046"/>
              <a:gd name="connsiteY2" fmla="*/ 114191 h 685130"/>
              <a:gd name="connsiteX3" fmla="*/ 1054046 w 1054046"/>
              <a:gd name="connsiteY3" fmla="*/ 685130 h 685130"/>
              <a:gd name="connsiteX4" fmla="*/ 1054046 w 1054046"/>
              <a:gd name="connsiteY4" fmla="*/ 685130 h 685130"/>
              <a:gd name="connsiteX5" fmla="*/ 0 w 1054046"/>
              <a:gd name="connsiteY5" fmla="*/ 685130 h 685130"/>
              <a:gd name="connsiteX6" fmla="*/ 0 w 1054046"/>
              <a:gd name="connsiteY6" fmla="*/ 685130 h 685130"/>
              <a:gd name="connsiteX7" fmla="*/ 0 w 1054046"/>
              <a:gd name="connsiteY7" fmla="*/ 114191 h 685130"/>
              <a:gd name="connsiteX8" fmla="*/ 114191 w 1054046"/>
              <a:gd name="connsiteY8" fmla="*/ 0 h 6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046" h="685130">
                <a:moveTo>
                  <a:pt x="114191" y="0"/>
                </a:moveTo>
                <a:lnTo>
                  <a:pt x="939855" y="0"/>
                </a:lnTo>
                <a:cubicBezTo>
                  <a:pt x="1002921" y="0"/>
                  <a:pt x="1054046" y="51125"/>
                  <a:pt x="1054046" y="114191"/>
                </a:cubicBezTo>
                <a:lnTo>
                  <a:pt x="1054046" y="685130"/>
                </a:lnTo>
                <a:lnTo>
                  <a:pt x="1054046" y="685130"/>
                </a:lnTo>
                <a:lnTo>
                  <a:pt x="0" y="685130"/>
                </a:lnTo>
                <a:lnTo>
                  <a:pt x="0" y="685130"/>
                </a:lnTo>
                <a:lnTo>
                  <a:pt x="0" y="114191"/>
                </a:lnTo>
                <a:cubicBezTo>
                  <a:pt x="0" y="51125"/>
                  <a:pt x="51125" y="0"/>
                  <a:pt x="114191" y="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164" tIns="48684" rIns="79165" bIns="152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/>
              <a:t>Speech Recognition 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3EA15D1-41E2-B5C1-169D-AEC9366C2267}"/>
              </a:ext>
            </a:extLst>
          </p:cNvPr>
          <p:cNvSpPr/>
          <p:nvPr/>
        </p:nvSpPr>
        <p:spPr>
          <a:xfrm rot="514286">
            <a:off x="6007366" y="990252"/>
            <a:ext cx="1054046" cy="685130"/>
          </a:xfrm>
          <a:custGeom>
            <a:avLst/>
            <a:gdLst>
              <a:gd name="connsiteX0" fmla="*/ 114191 w 1054046"/>
              <a:gd name="connsiteY0" fmla="*/ 0 h 685130"/>
              <a:gd name="connsiteX1" fmla="*/ 939855 w 1054046"/>
              <a:gd name="connsiteY1" fmla="*/ 0 h 685130"/>
              <a:gd name="connsiteX2" fmla="*/ 1054046 w 1054046"/>
              <a:gd name="connsiteY2" fmla="*/ 114191 h 685130"/>
              <a:gd name="connsiteX3" fmla="*/ 1054046 w 1054046"/>
              <a:gd name="connsiteY3" fmla="*/ 685130 h 685130"/>
              <a:gd name="connsiteX4" fmla="*/ 1054046 w 1054046"/>
              <a:gd name="connsiteY4" fmla="*/ 685130 h 685130"/>
              <a:gd name="connsiteX5" fmla="*/ 0 w 1054046"/>
              <a:gd name="connsiteY5" fmla="*/ 685130 h 685130"/>
              <a:gd name="connsiteX6" fmla="*/ 0 w 1054046"/>
              <a:gd name="connsiteY6" fmla="*/ 685130 h 685130"/>
              <a:gd name="connsiteX7" fmla="*/ 0 w 1054046"/>
              <a:gd name="connsiteY7" fmla="*/ 114191 h 685130"/>
              <a:gd name="connsiteX8" fmla="*/ 114191 w 1054046"/>
              <a:gd name="connsiteY8" fmla="*/ 0 h 6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046" h="685130">
                <a:moveTo>
                  <a:pt x="114191" y="0"/>
                </a:moveTo>
                <a:lnTo>
                  <a:pt x="939855" y="0"/>
                </a:lnTo>
                <a:cubicBezTo>
                  <a:pt x="1002921" y="0"/>
                  <a:pt x="1054046" y="51125"/>
                  <a:pt x="1054046" y="114191"/>
                </a:cubicBezTo>
                <a:lnTo>
                  <a:pt x="1054046" y="685130"/>
                </a:lnTo>
                <a:lnTo>
                  <a:pt x="1054046" y="685130"/>
                </a:lnTo>
                <a:lnTo>
                  <a:pt x="0" y="685130"/>
                </a:lnTo>
                <a:lnTo>
                  <a:pt x="0" y="685130"/>
                </a:lnTo>
                <a:lnTo>
                  <a:pt x="0" y="114191"/>
                </a:lnTo>
                <a:cubicBezTo>
                  <a:pt x="0" y="51125"/>
                  <a:pt x="51125" y="0"/>
                  <a:pt x="114191" y="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165" tIns="48684" rIns="79164" bIns="152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/>
              <a:t>Text Classification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C1722AB-7602-BE01-155C-4B9E5DA99065}"/>
              </a:ext>
            </a:extLst>
          </p:cNvPr>
          <p:cNvSpPr/>
          <p:nvPr/>
        </p:nvSpPr>
        <p:spPr>
          <a:xfrm rot="1542857">
            <a:off x="7312888" y="1392952"/>
            <a:ext cx="1054046" cy="685130"/>
          </a:xfrm>
          <a:custGeom>
            <a:avLst/>
            <a:gdLst>
              <a:gd name="connsiteX0" fmla="*/ 114191 w 1054046"/>
              <a:gd name="connsiteY0" fmla="*/ 0 h 685130"/>
              <a:gd name="connsiteX1" fmla="*/ 939855 w 1054046"/>
              <a:gd name="connsiteY1" fmla="*/ 0 h 685130"/>
              <a:gd name="connsiteX2" fmla="*/ 1054046 w 1054046"/>
              <a:gd name="connsiteY2" fmla="*/ 114191 h 685130"/>
              <a:gd name="connsiteX3" fmla="*/ 1054046 w 1054046"/>
              <a:gd name="connsiteY3" fmla="*/ 685130 h 685130"/>
              <a:gd name="connsiteX4" fmla="*/ 1054046 w 1054046"/>
              <a:gd name="connsiteY4" fmla="*/ 685130 h 685130"/>
              <a:gd name="connsiteX5" fmla="*/ 0 w 1054046"/>
              <a:gd name="connsiteY5" fmla="*/ 685130 h 685130"/>
              <a:gd name="connsiteX6" fmla="*/ 0 w 1054046"/>
              <a:gd name="connsiteY6" fmla="*/ 685130 h 685130"/>
              <a:gd name="connsiteX7" fmla="*/ 0 w 1054046"/>
              <a:gd name="connsiteY7" fmla="*/ 114191 h 685130"/>
              <a:gd name="connsiteX8" fmla="*/ 114191 w 1054046"/>
              <a:gd name="connsiteY8" fmla="*/ 0 h 6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046" h="685130">
                <a:moveTo>
                  <a:pt x="114191" y="0"/>
                </a:moveTo>
                <a:lnTo>
                  <a:pt x="939855" y="0"/>
                </a:lnTo>
                <a:cubicBezTo>
                  <a:pt x="1002921" y="0"/>
                  <a:pt x="1054046" y="51125"/>
                  <a:pt x="1054046" y="114191"/>
                </a:cubicBezTo>
                <a:lnTo>
                  <a:pt x="1054046" y="685130"/>
                </a:lnTo>
                <a:lnTo>
                  <a:pt x="1054046" y="685130"/>
                </a:lnTo>
                <a:lnTo>
                  <a:pt x="0" y="685130"/>
                </a:lnTo>
                <a:lnTo>
                  <a:pt x="0" y="685130"/>
                </a:lnTo>
                <a:lnTo>
                  <a:pt x="0" y="114191"/>
                </a:lnTo>
                <a:cubicBezTo>
                  <a:pt x="0" y="51125"/>
                  <a:pt x="51125" y="0"/>
                  <a:pt x="114191" y="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164" tIns="48685" rIns="79165" bIns="15239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/>
              <a:t>Anomaly Detection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09B00F3-A2AB-B814-EEF5-6F2A0C73DE42}"/>
              </a:ext>
            </a:extLst>
          </p:cNvPr>
          <p:cNvSpPr/>
          <p:nvPr/>
        </p:nvSpPr>
        <p:spPr>
          <a:xfrm rot="2571429">
            <a:off x="8441712" y="2162571"/>
            <a:ext cx="1054046" cy="685130"/>
          </a:xfrm>
          <a:custGeom>
            <a:avLst/>
            <a:gdLst>
              <a:gd name="connsiteX0" fmla="*/ 114191 w 1054046"/>
              <a:gd name="connsiteY0" fmla="*/ 0 h 685130"/>
              <a:gd name="connsiteX1" fmla="*/ 939855 w 1054046"/>
              <a:gd name="connsiteY1" fmla="*/ 0 h 685130"/>
              <a:gd name="connsiteX2" fmla="*/ 1054046 w 1054046"/>
              <a:gd name="connsiteY2" fmla="*/ 114191 h 685130"/>
              <a:gd name="connsiteX3" fmla="*/ 1054046 w 1054046"/>
              <a:gd name="connsiteY3" fmla="*/ 685130 h 685130"/>
              <a:gd name="connsiteX4" fmla="*/ 1054046 w 1054046"/>
              <a:gd name="connsiteY4" fmla="*/ 685130 h 685130"/>
              <a:gd name="connsiteX5" fmla="*/ 0 w 1054046"/>
              <a:gd name="connsiteY5" fmla="*/ 685130 h 685130"/>
              <a:gd name="connsiteX6" fmla="*/ 0 w 1054046"/>
              <a:gd name="connsiteY6" fmla="*/ 685130 h 685130"/>
              <a:gd name="connsiteX7" fmla="*/ 0 w 1054046"/>
              <a:gd name="connsiteY7" fmla="*/ 114191 h 685130"/>
              <a:gd name="connsiteX8" fmla="*/ 114191 w 1054046"/>
              <a:gd name="connsiteY8" fmla="*/ 0 h 6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046" h="685130">
                <a:moveTo>
                  <a:pt x="114191" y="0"/>
                </a:moveTo>
                <a:lnTo>
                  <a:pt x="939855" y="0"/>
                </a:lnTo>
                <a:cubicBezTo>
                  <a:pt x="1002921" y="0"/>
                  <a:pt x="1054046" y="51125"/>
                  <a:pt x="1054046" y="114191"/>
                </a:cubicBezTo>
                <a:lnTo>
                  <a:pt x="1054046" y="685130"/>
                </a:lnTo>
                <a:lnTo>
                  <a:pt x="1054046" y="685130"/>
                </a:lnTo>
                <a:lnTo>
                  <a:pt x="0" y="685130"/>
                </a:lnTo>
                <a:lnTo>
                  <a:pt x="0" y="685130"/>
                </a:lnTo>
                <a:lnTo>
                  <a:pt x="0" y="114191"/>
                </a:lnTo>
                <a:cubicBezTo>
                  <a:pt x="0" y="51125"/>
                  <a:pt x="51125" y="0"/>
                  <a:pt x="114191" y="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165" tIns="48684" rIns="79164" bIns="1524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/>
              <a:t>Sentiment Analysis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A1FD0D-BFD6-42AE-478B-922EECA7D568}"/>
              </a:ext>
            </a:extLst>
          </p:cNvPr>
          <p:cNvSpPr/>
          <p:nvPr/>
        </p:nvSpPr>
        <p:spPr>
          <a:xfrm rot="3600000">
            <a:off x="9293536" y="3230725"/>
            <a:ext cx="1054046" cy="685130"/>
          </a:xfrm>
          <a:custGeom>
            <a:avLst/>
            <a:gdLst>
              <a:gd name="connsiteX0" fmla="*/ 114191 w 1054046"/>
              <a:gd name="connsiteY0" fmla="*/ 0 h 685130"/>
              <a:gd name="connsiteX1" fmla="*/ 939855 w 1054046"/>
              <a:gd name="connsiteY1" fmla="*/ 0 h 685130"/>
              <a:gd name="connsiteX2" fmla="*/ 1054046 w 1054046"/>
              <a:gd name="connsiteY2" fmla="*/ 114191 h 685130"/>
              <a:gd name="connsiteX3" fmla="*/ 1054046 w 1054046"/>
              <a:gd name="connsiteY3" fmla="*/ 685130 h 685130"/>
              <a:gd name="connsiteX4" fmla="*/ 1054046 w 1054046"/>
              <a:gd name="connsiteY4" fmla="*/ 685130 h 685130"/>
              <a:gd name="connsiteX5" fmla="*/ 0 w 1054046"/>
              <a:gd name="connsiteY5" fmla="*/ 685130 h 685130"/>
              <a:gd name="connsiteX6" fmla="*/ 0 w 1054046"/>
              <a:gd name="connsiteY6" fmla="*/ 685130 h 685130"/>
              <a:gd name="connsiteX7" fmla="*/ 0 w 1054046"/>
              <a:gd name="connsiteY7" fmla="*/ 114191 h 685130"/>
              <a:gd name="connsiteX8" fmla="*/ 114191 w 1054046"/>
              <a:gd name="connsiteY8" fmla="*/ 0 h 685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4046" h="685130">
                <a:moveTo>
                  <a:pt x="114191" y="0"/>
                </a:moveTo>
                <a:lnTo>
                  <a:pt x="939855" y="0"/>
                </a:lnTo>
                <a:cubicBezTo>
                  <a:pt x="1002921" y="0"/>
                  <a:pt x="1054046" y="51125"/>
                  <a:pt x="1054046" y="114191"/>
                </a:cubicBezTo>
                <a:lnTo>
                  <a:pt x="1054046" y="685130"/>
                </a:lnTo>
                <a:lnTo>
                  <a:pt x="1054046" y="685130"/>
                </a:lnTo>
                <a:lnTo>
                  <a:pt x="0" y="685130"/>
                </a:lnTo>
                <a:lnTo>
                  <a:pt x="0" y="685130"/>
                </a:lnTo>
                <a:lnTo>
                  <a:pt x="0" y="114191"/>
                </a:lnTo>
                <a:cubicBezTo>
                  <a:pt x="0" y="51125"/>
                  <a:pt x="51125" y="0"/>
                  <a:pt x="114191" y="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165" tIns="48685" rIns="79164" bIns="15239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/>
              <a:t>Medical Diagnosis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75" y="3601330"/>
            <a:ext cx="4801987" cy="645354"/>
          </a:xfrm>
        </p:spPr>
        <p:txBody>
          <a:bodyPr/>
          <a:lstStyle/>
          <a:p>
            <a:pPr algn="ctr"/>
            <a:r>
              <a:rPr lang="en-US" sz="3600" dirty="0"/>
              <a:t>Applications of SVM</a:t>
            </a:r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5E42E90-0726-CC27-5AE5-18CC70343730}"/>
              </a:ext>
            </a:extLst>
          </p:cNvPr>
          <p:cNvSpPr/>
          <p:nvPr/>
        </p:nvSpPr>
        <p:spPr>
          <a:xfrm>
            <a:off x="423619" y="668216"/>
            <a:ext cx="5506496" cy="62377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 w="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FF"/>
              </a:highlight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19" y="553916"/>
            <a:ext cx="5963070" cy="738078"/>
          </a:xfrm>
          <a:noFill/>
          <a:ln>
            <a:noFill/>
          </a:ln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Pros and Cons of SVM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82175" y="1689955"/>
            <a:ext cx="4664075" cy="3332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Pros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High Accuracy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Robust to Noise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Flexibility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Memory Efficient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83325" y="1689955"/>
            <a:ext cx="5348898" cy="3332162"/>
          </a:xfrm>
        </p:spPr>
        <p:txBody>
          <a:bodyPr>
            <a:normAutofit/>
          </a:bodyPr>
          <a:lstStyle/>
          <a:p>
            <a:r>
              <a:rPr lang="en-US" sz="3600" b="1" dirty="0"/>
              <a:t>Cons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Computational Complexity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For large dataset training time is higher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Overfitting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240" y="782516"/>
            <a:ext cx="4169437" cy="1011531"/>
          </a:xfrm>
        </p:spPr>
        <p:txBody>
          <a:bodyPr/>
          <a:lstStyle/>
          <a:p>
            <a:r>
              <a:rPr lang="en-US" sz="4800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240" y="1936656"/>
            <a:ext cx="7413799" cy="194075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SVM is a powerful Classification tool.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It is effective for high dimensional data.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SVM is memory efficient because of support vectors.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002" y="2586501"/>
            <a:ext cx="6220278" cy="1079891"/>
          </a:xfrm>
        </p:spPr>
        <p:txBody>
          <a:bodyPr/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{516B70A4-7E03-4409-BBE6-589F4B4AD9FB}tf45331398_win32</Template>
  <TotalTime>1069</TotalTime>
  <Words>261</Words>
  <Application>Microsoft Office PowerPoint</Application>
  <PresentationFormat>Widescreen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Tenorite</vt:lpstr>
      <vt:lpstr>Wingdings</vt:lpstr>
      <vt:lpstr>Custom</vt:lpstr>
      <vt:lpstr>Support Vector Machines</vt:lpstr>
      <vt:lpstr>Agenda</vt:lpstr>
      <vt:lpstr>Introduction</vt:lpstr>
      <vt:lpstr>Basic Concept of SVM</vt:lpstr>
      <vt:lpstr>Working of SVM</vt:lpstr>
      <vt:lpstr>Tuning Parameters in SVM</vt:lpstr>
      <vt:lpstr>Applications of SVM</vt:lpstr>
      <vt:lpstr>Pros and Cons of SVM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</dc:title>
  <dc:creator>우마르 무하마드</dc:creator>
  <cp:lastModifiedBy>우마르 무하마드</cp:lastModifiedBy>
  <cp:revision>4</cp:revision>
  <dcterms:created xsi:type="dcterms:W3CDTF">2024-04-22T12:39:30Z</dcterms:created>
  <dcterms:modified xsi:type="dcterms:W3CDTF">2024-04-23T06:47:11Z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