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385" r:id="rId5"/>
    <p:sldId id="386" r:id="rId6"/>
    <p:sldId id="387" r:id="rId7"/>
    <p:sldId id="388" r:id="rId8"/>
    <p:sldId id="389" r:id="rId9"/>
    <p:sldId id="390" r:id="rId10"/>
    <p:sldId id="391" r:id="rId11"/>
    <p:sldId id="392" r:id="rId12"/>
    <p:sldId id="393" r:id="rId13"/>
    <p:sldId id="394" r:id="rId14"/>
    <p:sldId id="39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3" pos="4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72A"/>
    <a:srgbClr val="F5F5F5"/>
    <a:srgbClr val="D24726"/>
    <a:srgbClr val="9FCDB3"/>
    <a:srgbClr val="217346"/>
    <a:srgbClr val="000000"/>
    <a:srgbClr val="D9D9D9"/>
    <a:srgbClr val="F3F2F1"/>
    <a:srgbClr val="FF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60"/>
  </p:normalViewPr>
  <p:slideViewPr>
    <p:cSldViewPr snapToGrid="0">
      <p:cViewPr varScale="1">
        <p:scale>
          <a:sx n="108" d="100"/>
          <a:sy n="108" d="100"/>
        </p:scale>
        <p:origin x="654" y="96"/>
      </p:cViewPr>
      <p:guideLst>
        <p:guide orient="horz" pos="2880"/>
        <p:guide pos="48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28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DF00F8-2CCF-4357-9FBA-809AEF21BD07}" type="doc">
      <dgm:prSet loTypeId="urn:microsoft.com/office/officeart/2005/8/layout/cycle6" loCatId="cycle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D742EDB-B08F-45A8-9FB9-5EE74B369E54}">
      <dgm:prSet/>
      <dgm:spPr/>
      <dgm:t>
        <a:bodyPr/>
        <a:lstStyle/>
        <a:p>
          <a:r>
            <a:rPr lang="en-US" dirty="0"/>
            <a:t>Muhammad Umar </a:t>
          </a:r>
        </a:p>
      </dgm:t>
    </dgm:pt>
    <dgm:pt modelId="{129A30B6-126D-4F57-9606-D59A5C4B8713}" type="parTrans" cxnId="{2B56AC2F-A214-475B-85ED-A481FB1EF073}">
      <dgm:prSet/>
      <dgm:spPr/>
      <dgm:t>
        <a:bodyPr/>
        <a:lstStyle/>
        <a:p>
          <a:endParaRPr lang="en-US"/>
        </a:p>
      </dgm:t>
    </dgm:pt>
    <dgm:pt modelId="{E66EEC07-9C3F-483A-BC27-4561050A502C}" type="sibTrans" cxnId="{2B56AC2F-A214-475B-85ED-A481FB1EF073}">
      <dgm:prSet/>
      <dgm:spPr/>
      <dgm:t>
        <a:bodyPr/>
        <a:lstStyle/>
        <a:p>
          <a:endParaRPr lang="en-US"/>
        </a:p>
      </dgm:t>
    </dgm:pt>
    <dgm:pt modelId="{924EE844-B651-4ECB-80B8-EBEC8D4AEBB6}">
      <dgm:prSet/>
      <dgm:spPr/>
      <dgm:t>
        <a:bodyPr/>
        <a:lstStyle/>
        <a:p>
          <a:r>
            <a:rPr lang="en-US"/>
            <a:t>UIAI Lab</a:t>
          </a:r>
        </a:p>
      </dgm:t>
    </dgm:pt>
    <dgm:pt modelId="{E1D2237F-6FD6-4303-931F-5563E3B01746}" type="parTrans" cxnId="{FD3F0E27-39A4-4545-BC0E-1EE914911A2A}">
      <dgm:prSet/>
      <dgm:spPr/>
      <dgm:t>
        <a:bodyPr/>
        <a:lstStyle/>
        <a:p>
          <a:endParaRPr lang="en-US"/>
        </a:p>
      </dgm:t>
    </dgm:pt>
    <dgm:pt modelId="{793D3C93-DEFA-4645-96D5-F99E5202E0A9}" type="sibTrans" cxnId="{FD3F0E27-39A4-4545-BC0E-1EE914911A2A}">
      <dgm:prSet/>
      <dgm:spPr/>
      <dgm:t>
        <a:bodyPr/>
        <a:lstStyle/>
        <a:p>
          <a:endParaRPr lang="en-US"/>
        </a:p>
      </dgm:t>
    </dgm:pt>
    <dgm:pt modelId="{966B4FFE-4B63-455B-95D2-B888DCCEFA78}" type="pres">
      <dgm:prSet presAssocID="{F6DF00F8-2CCF-4357-9FBA-809AEF21BD07}" presName="cycle" presStyleCnt="0">
        <dgm:presLayoutVars>
          <dgm:dir/>
          <dgm:resizeHandles val="exact"/>
        </dgm:presLayoutVars>
      </dgm:prSet>
      <dgm:spPr/>
    </dgm:pt>
    <dgm:pt modelId="{709427C2-9A23-4A2D-A116-168DA072A769}" type="pres">
      <dgm:prSet presAssocID="{CD742EDB-B08F-45A8-9FB9-5EE74B369E54}" presName="node" presStyleLbl="node1" presStyleIdx="0" presStyleCnt="2">
        <dgm:presLayoutVars>
          <dgm:bulletEnabled val="1"/>
        </dgm:presLayoutVars>
      </dgm:prSet>
      <dgm:spPr/>
    </dgm:pt>
    <dgm:pt modelId="{088A26BD-7209-4164-B824-B263F4E07FD1}" type="pres">
      <dgm:prSet presAssocID="{CD742EDB-B08F-45A8-9FB9-5EE74B369E54}" presName="spNode" presStyleCnt="0"/>
      <dgm:spPr/>
    </dgm:pt>
    <dgm:pt modelId="{75D9B715-C9B3-4316-99F9-8CD9CF4513E1}" type="pres">
      <dgm:prSet presAssocID="{E66EEC07-9C3F-483A-BC27-4561050A502C}" presName="sibTrans" presStyleLbl="sibTrans1D1" presStyleIdx="0" presStyleCnt="2"/>
      <dgm:spPr/>
    </dgm:pt>
    <dgm:pt modelId="{7B6EA215-586D-4D36-AE77-EFAC8ADFBF38}" type="pres">
      <dgm:prSet presAssocID="{924EE844-B651-4ECB-80B8-EBEC8D4AEBB6}" presName="node" presStyleLbl="node1" presStyleIdx="1" presStyleCnt="2">
        <dgm:presLayoutVars>
          <dgm:bulletEnabled val="1"/>
        </dgm:presLayoutVars>
      </dgm:prSet>
      <dgm:spPr/>
    </dgm:pt>
    <dgm:pt modelId="{31ACC859-1926-44CB-9519-40B1B59CC5FB}" type="pres">
      <dgm:prSet presAssocID="{924EE844-B651-4ECB-80B8-EBEC8D4AEBB6}" presName="spNode" presStyleCnt="0"/>
      <dgm:spPr/>
    </dgm:pt>
    <dgm:pt modelId="{5B0482DA-AC0F-4E82-AAEF-10D07707D64A}" type="pres">
      <dgm:prSet presAssocID="{793D3C93-DEFA-4645-96D5-F99E5202E0A9}" presName="sibTrans" presStyleLbl="sibTrans1D1" presStyleIdx="1" presStyleCnt="2"/>
      <dgm:spPr/>
    </dgm:pt>
  </dgm:ptLst>
  <dgm:cxnLst>
    <dgm:cxn modelId="{0A33471D-57EE-4832-904A-828EA69DA20F}" type="presOf" srcId="{924EE844-B651-4ECB-80B8-EBEC8D4AEBB6}" destId="{7B6EA215-586D-4D36-AE77-EFAC8ADFBF38}" srcOrd="0" destOrd="0" presId="urn:microsoft.com/office/officeart/2005/8/layout/cycle6"/>
    <dgm:cxn modelId="{FD3F0E27-39A4-4545-BC0E-1EE914911A2A}" srcId="{F6DF00F8-2CCF-4357-9FBA-809AEF21BD07}" destId="{924EE844-B651-4ECB-80B8-EBEC8D4AEBB6}" srcOrd="1" destOrd="0" parTransId="{E1D2237F-6FD6-4303-931F-5563E3B01746}" sibTransId="{793D3C93-DEFA-4645-96D5-F99E5202E0A9}"/>
    <dgm:cxn modelId="{265A552A-D3D5-4AAC-A77C-12CF3DDAA409}" type="presOf" srcId="{CD742EDB-B08F-45A8-9FB9-5EE74B369E54}" destId="{709427C2-9A23-4A2D-A116-168DA072A769}" srcOrd="0" destOrd="0" presId="urn:microsoft.com/office/officeart/2005/8/layout/cycle6"/>
    <dgm:cxn modelId="{2B56AC2F-A214-475B-85ED-A481FB1EF073}" srcId="{F6DF00F8-2CCF-4357-9FBA-809AEF21BD07}" destId="{CD742EDB-B08F-45A8-9FB9-5EE74B369E54}" srcOrd="0" destOrd="0" parTransId="{129A30B6-126D-4F57-9606-D59A5C4B8713}" sibTransId="{E66EEC07-9C3F-483A-BC27-4561050A502C}"/>
    <dgm:cxn modelId="{750FD782-9EB1-49BA-A260-8546C34E7271}" type="presOf" srcId="{793D3C93-DEFA-4645-96D5-F99E5202E0A9}" destId="{5B0482DA-AC0F-4E82-AAEF-10D07707D64A}" srcOrd="0" destOrd="0" presId="urn:microsoft.com/office/officeart/2005/8/layout/cycle6"/>
    <dgm:cxn modelId="{AE304B9A-1F29-4F85-8CEC-601EEEAE203D}" type="presOf" srcId="{F6DF00F8-2CCF-4357-9FBA-809AEF21BD07}" destId="{966B4FFE-4B63-455B-95D2-B888DCCEFA78}" srcOrd="0" destOrd="0" presId="urn:microsoft.com/office/officeart/2005/8/layout/cycle6"/>
    <dgm:cxn modelId="{9A2D5DF8-A94B-4A87-8E7B-FC5EE3962399}" type="presOf" srcId="{E66EEC07-9C3F-483A-BC27-4561050A502C}" destId="{75D9B715-C9B3-4316-99F9-8CD9CF4513E1}" srcOrd="0" destOrd="0" presId="urn:microsoft.com/office/officeart/2005/8/layout/cycle6"/>
    <dgm:cxn modelId="{656DBB0D-9AF4-486E-A5E1-5317F9AD405E}" type="presParOf" srcId="{966B4FFE-4B63-455B-95D2-B888DCCEFA78}" destId="{709427C2-9A23-4A2D-A116-168DA072A769}" srcOrd="0" destOrd="0" presId="urn:microsoft.com/office/officeart/2005/8/layout/cycle6"/>
    <dgm:cxn modelId="{BBDFBB57-6C90-4E69-86CA-7160581283A5}" type="presParOf" srcId="{966B4FFE-4B63-455B-95D2-B888DCCEFA78}" destId="{088A26BD-7209-4164-B824-B263F4E07FD1}" srcOrd="1" destOrd="0" presId="urn:microsoft.com/office/officeart/2005/8/layout/cycle6"/>
    <dgm:cxn modelId="{25252329-88F3-41D1-950F-0EF1776335F7}" type="presParOf" srcId="{966B4FFE-4B63-455B-95D2-B888DCCEFA78}" destId="{75D9B715-C9B3-4316-99F9-8CD9CF4513E1}" srcOrd="2" destOrd="0" presId="urn:microsoft.com/office/officeart/2005/8/layout/cycle6"/>
    <dgm:cxn modelId="{5788FD38-D7A6-41D5-9024-D088DDC19E03}" type="presParOf" srcId="{966B4FFE-4B63-455B-95D2-B888DCCEFA78}" destId="{7B6EA215-586D-4D36-AE77-EFAC8ADFBF38}" srcOrd="3" destOrd="0" presId="urn:microsoft.com/office/officeart/2005/8/layout/cycle6"/>
    <dgm:cxn modelId="{E6A8D12C-37FB-4362-85D8-923A469DD77D}" type="presParOf" srcId="{966B4FFE-4B63-455B-95D2-B888DCCEFA78}" destId="{31ACC859-1926-44CB-9519-40B1B59CC5FB}" srcOrd="4" destOrd="0" presId="urn:microsoft.com/office/officeart/2005/8/layout/cycle6"/>
    <dgm:cxn modelId="{37B9BC3B-4FCC-4C3F-90FA-1E3E2C303332}" type="presParOf" srcId="{966B4FFE-4B63-455B-95D2-B888DCCEFA78}" destId="{5B0482DA-AC0F-4E82-AAEF-10D07707D64A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427C2-9A23-4A2D-A116-168DA072A769}">
      <dsp:nvSpPr>
        <dsp:cNvPr id="0" name=""/>
        <dsp:cNvSpPr/>
      </dsp:nvSpPr>
      <dsp:spPr>
        <a:xfrm>
          <a:off x="12484" y="435582"/>
          <a:ext cx="1255262" cy="815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Muhammad Umar </a:t>
          </a:r>
        </a:p>
      </dsp:txBody>
      <dsp:txXfrm>
        <a:off x="52314" y="475412"/>
        <a:ext cx="1175602" cy="736260"/>
      </dsp:txXfrm>
    </dsp:sp>
    <dsp:sp modelId="{75D9B715-C9B3-4316-99F9-8CD9CF4513E1}">
      <dsp:nvSpPr>
        <dsp:cNvPr id="0" name=""/>
        <dsp:cNvSpPr/>
      </dsp:nvSpPr>
      <dsp:spPr>
        <a:xfrm>
          <a:off x="640116" y="151649"/>
          <a:ext cx="1383786" cy="1383786"/>
        </a:xfrm>
        <a:custGeom>
          <a:avLst/>
          <a:gdLst/>
          <a:ahLst/>
          <a:cxnLst/>
          <a:rect l="0" t="0" r="0" b="0"/>
          <a:pathLst>
            <a:path>
              <a:moveTo>
                <a:pt x="139731" y="274959"/>
              </a:moveTo>
              <a:arcTo wR="691893" hR="691893" stAng="13023373" swAng="6353255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6EA215-586D-4D36-AE77-EFAC8ADFBF38}">
      <dsp:nvSpPr>
        <dsp:cNvPr id="0" name=""/>
        <dsp:cNvSpPr/>
      </dsp:nvSpPr>
      <dsp:spPr>
        <a:xfrm>
          <a:off x="1396271" y="435582"/>
          <a:ext cx="1255262" cy="815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UIAI Lab</a:t>
          </a:r>
        </a:p>
      </dsp:txBody>
      <dsp:txXfrm>
        <a:off x="1436101" y="475412"/>
        <a:ext cx="1175602" cy="736260"/>
      </dsp:txXfrm>
    </dsp:sp>
    <dsp:sp modelId="{5B0482DA-AC0F-4E82-AAEF-10D07707D64A}">
      <dsp:nvSpPr>
        <dsp:cNvPr id="0" name=""/>
        <dsp:cNvSpPr/>
      </dsp:nvSpPr>
      <dsp:spPr>
        <a:xfrm>
          <a:off x="640116" y="151649"/>
          <a:ext cx="1383786" cy="1383786"/>
        </a:xfrm>
        <a:custGeom>
          <a:avLst/>
          <a:gdLst/>
          <a:ahLst/>
          <a:cxnLst/>
          <a:rect l="0" t="0" r="0" b="0"/>
          <a:pathLst>
            <a:path>
              <a:moveTo>
                <a:pt x="1244055" y="1108827"/>
              </a:moveTo>
              <a:arcTo wR="691893" hR="691893" stAng="2223373" swAng="6353255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056" y="2551176"/>
            <a:ext cx="9922447" cy="914400"/>
          </a:xfrm>
        </p:spPr>
        <p:txBody>
          <a:bodyPr/>
          <a:lstStyle>
            <a:lvl1pPr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07D0E1-EAED-8E08-24BA-8F930364B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3575304"/>
            <a:ext cx="9921943" cy="86201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976CD4A8-8154-0AA2-A2AB-9AD82CD740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9483" y="128907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11210543" cy="4601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681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330952" cy="4601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04E943F-C687-D3B3-4E36-65D69E3E2F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8690" y="1463040"/>
            <a:ext cx="5330952" cy="4601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321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330952" cy="4601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070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3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056" y="1447800"/>
            <a:ext cx="11210543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099" y="6427391"/>
            <a:ext cx="3276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042" y="6427391"/>
            <a:ext cx="3276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F39A1B-8AD1-2C34-AB40-00704468E828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bg2">
              <a:lumMod val="25000"/>
            </a:schemeClr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Tx/>
        <a:buNone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283464" indent="-283464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84" userDrawn="1">
          <p15:clr>
            <a:srgbClr val="F26B43"/>
          </p15:clr>
        </p15:guide>
        <p15:guide id="2" pos="336" userDrawn="1">
          <p15:clr>
            <a:srgbClr val="F26B43"/>
          </p15:clr>
        </p15:guide>
        <p15:guide id="3" pos="7320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orient="horz" pos="264" userDrawn="1">
          <p15:clr>
            <a:srgbClr val="F26B43"/>
          </p15:clr>
        </p15:guide>
        <p15:guide id="6" orient="horz" pos="696" userDrawn="1">
          <p15:clr>
            <a:srgbClr val="F26B43"/>
          </p15:clr>
        </p15:guide>
        <p15:guide id="7" pos="36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66E636-D1D5-3AAC-5CD5-A2F5C585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460" y="2062064"/>
            <a:ext cx="6625077" cy="1687085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/>
              <a:t>Dimensionality Reduction</a:t>
            </a:r>
          </a:p>
        </p:txBody>
      </p:sp>
      <p:graphicFrame>
        <p:nvGraphicFramePr>
          <p:cNvPr id="7" name="Text Placeholder 4">
            <a:extLst>
              <a:ext uri="{FF2B5EF4-FFF2-40B4-BE49-F238E27FC236}">
                <a16:creationId xmlns:a16="http://schemas.microsoft.com/office/drawing/2014/main" id="{E52C0E99-E11F-A446-35F6-4212CD9697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6798425"/>
              </p:ext>
            </p:extLst>
          </p:nvPr>
        </p:nvGraphicFramePr>
        <p:xfrm>
          <a:off x="4763990" y="3240879"/>
          <a:ext cx="2664019" cy="1687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087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C7E9-DC20-A7CD-7737-2DBF7B80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BD9A04-6070-3A4A-2AC0-0A472F47D15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Curse of Dimensionality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Main Approaches for Dimensionality Reduction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Projection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Manifold Learning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Kernal PCA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86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2C5BBD-308A-C826-C509-4C6A1E172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Curse of Dimensionality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FA7977-2556-2D17-8E63-06584B8BDC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65593" y="1584338"/>
            <a:ext cx="10155076" cy="1037564"/>
          </a:xfrm>
        </p:spPr>
        <p:txBody>
          <a:bodyPr>
            <a:normAutofit/>
          </a:bodyPr>
          <a:lstStyle/>
          <a:p>
            <a:r>
              <a:rPr lang="en-US" dirty="0"/>
              <a:t>We live in three dimensions that our intuition fails us when we try to imagine a high-dimensional space. </a:t>
            </a:r>
          </a:p>
          <a:p>
            <a:endParaRPr lang="en-US" dirty="0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FD2F00F2-C146-6F39-CB10-57D7FD3DF7CC}"/>
              </a:ext>
            </a:extLst>
          </p:cNvPr>
          <p:cNvSpPr txBox="1">
            <a:spLocks/>
          </p:cNvSpPr>
          <p:nvPr/>
        </p:nvSpPr>
        <p:spPr>
          <a:xfrm>
            <a:off x="2788569" y="5874359"/>
            <a:ext cx="6522406" cy="6239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Even a basic 4D hypercube is incredibly hard to picture.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3B6F83-14FA-8AFF-617E-32247AD56F71}"/>
              </a:ext>
            </a:extLst>
          </p:cNvPr>
          <p:cNvGrpSpPr/>
          <p:nvPr/>
        </p:nvGrpSpPr>
        <p:grpSpPr>
          <a:xfrm>
            <a:off x="1734702" y="2215087"/>
            <a:ext cx="8277225" cy="3466750"/>
            <a:chOff x="1706710" y="2103120"/>
            <a:chExt cx="8277225" cy="3466750"/>
          </a:xfrm>
        </p:grpSpPr>
        <p:pic>
          <p:nvPicPr>
            <p:cNvPr id="17" name="Picture 16" descr="A screenshot of a computer game&#10;&#10;Description automatically generated">
              <a:extLst>
                <a:ext uri="{FF2B5EF4-FFF2-40B4-BE49-F238E27FC236}">
                  <a16:creationId xmlns:a16="http://schemas.microsoft.com/office/drawing/2014/main" id="{C69ADD0B-ACBA-07A0-EA37-AA5594336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6710" y="2103120"/>
              <a:ext cx="8277225" cy="2733675"/>
            </a:xfrm>
            <a:prstGeom prst="rect">
              <a:avLst/>
            </a:prstGeom>
          </p:spPr>
        </p:pic>
        <p:sp>
          <p:nvSpPr>
            <p:cNvPr id="20" name="Content Placeholder 4">
              <a:extLst>
                <a:ext uri="{FF2B5EF4-FFF2-40B4-BE49-F238E27FC236}">
                  <a16:creationId xmlns:a16="http://schemas.microsoft.com/office/drawing/2014/main" id="{1E082837-A0F0-C895-3BFD-3F0D666B7646}"/>
                </a:ext>
              </a:extLst>
            </p:cNvPr>
            <p:cNvSpPr txBox="1">
              <a:spLocks/>
            </p:cNvSpPr>
            <p:nvPr/>
          </p:nvSpPr>
          <p:spPr>
            <a:xfrm>
              <a:off x="4299419" y="5141284"/>
              <a:ext cx="3091803" cy="42858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283464" indent="-283464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600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0574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i="1" dirty="0"/>
                <a:t>Figure: Dimensional Features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602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22130B-7050-46B1-D2A2-9D25F564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Approaches for Dimensionality Reduction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BBC3299-5E3D-4A09-1DB0-7015368554F6}"/>
              </a:ext>
            </a:extLst>
          </p:cNvPr>
          <p:cNvSpPr txBox="1">
            <a:spLocks/>
          </p:cNvSpPr>
          <p:nvPr/>
        </p:nvSpPr>
        <p:spPr>
          <a:xfrm>
            <a:off x="444501" y="1525183"/>
            <a:ext cx="11210543" cy="4601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There are two main approaches to reduce dimensionality</a:t>
            </a:r>
          </a:p>
          <a:p>
            <a:pPr marL="626364" lvl="1" indent="-342900">
              <a:buFont typeface="+mj-lt"/>
              <a:buAutoNum type="arabicPeriod"/>
            </a:pPr>
            <a:r>
              <a:rPr lang="en-US" dirty="0"/>
              <a:t>Projection </a:t>
            </a:r>
          </a:p>
          <a:p>
            <a:pPr marL="626364" lvl="1" indent="-342900">
              <a:buFont typeface="+mj-lt"/>
              <a:buAutoNum type="arabicPeriod"/>
            </a:pPr>
            <a:r>
              <a:rPr lang="en-US" dirty="0"/>
              <a:t>Manifold Learning </a:t>
            </a:r>
          </a:p>
        </p:txBody>
      </p:sp>
    </p:spTree>
    <p:extLst>
      <p:ext uri="{BB962C8B-B14F-4D97-AF65-F5344CB8AC3E}">
        <p14:creationId xmlns:p14="http://schemas.microsoft.com/office/powerpoint/2010/main" val="6789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FA407F-BC2E-41B0-1515-93D94A9F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3E6486-1483-E803-8E8D-48DAE2B224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4417" y="4718868"/>
            <a:ext cx="3091803" cy="5577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 see a 3D dataset represented by the circles.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200AB2-BE71-61FF-8E19-2B46AAC93AD1}"/>
              </a:ext>
            </a:extLst>
          </p:cNvPr>
          <p:cNvSpPr txBox="1"/>
          <p:nvPr/>
        </p:nvSpPr>
        <p:spPr>
          <a:xfrm>
            <a:off x="1466655" y="6058059"/>
            <a:ext cx="9745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Using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Projection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technique, we have just reduced the dataset’s dimensionality from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3D to 2D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!!</a:t>
            </a:r>
          </a:p>
        </p:txBody>
      </p:sp>
      <p:pic>
        <p:nvPicPr>
          <p:cNvPr id="3" name="Picture 2" descr="A graph with blue dots and arrows&#10;&#10;Description automatically generated">
            <a:extLst>
              <a:ext uri="{FF2B5EF4-FFF2-40B4-BE49-F238E27FC236}">
                <a16:creationId xmlns:a16="http://schemas.microsoft.com/office/drawing/2014/main" id="{4EA6FE24-3EDF-234D-86F8-73642F1FA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70" y="1769924"/>
            <a:ext cx="4185849" cy="272519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09853E7-466F-3C6E-0CCA-9112550B55C1}"/>
              </a:ext>
            </a:extLst>
          </p:cNvPr>
          <p:cNvGrpSpPr/>
          <p:nvPr/>
        </p:nvGrpSpPr>
        <p:grpSpPr>
          <a:xfrm>
            <a:off x="7269288" y="1695935"/>
            <a:ext cx="3909363" cy="3886797"/>
            <a:chOff x="7269288" y="1695935"/>
            <a:chExt cx="3909363" cy="3886797"/>
          </a:xfrm>
        </p:grpSpPr>
        <p:pic>
          <p:nvPicPr>
            <p:cNvPr id="6" name="Picture 5" descr="A grid with lines and dots&#10;&#10;Description automatically generated">
              <a:extLst>
                <a:ext uri="{FF2B5EF4-FFF2-40B4-BE49-F238E27FC236}">
                  <a16:creationId xmlns:a16="http://schemas.microsoft.com/office/drawing/2014/main" id="{21C12445-2B67-5808-E980-6E4149C27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69288" y="1695935"/>
              <a:ext cx="3665411" cy="3110865"/>
            </a:xfrm>
            <a:prstGeom prst="rect">
              <a:avLst/>
            </a:prstGeom>
          </p:spPr>
        </p:pic>
        <p:sp>
          <p:nvSpPr>
            <p:cNvPr id="11" name="Content Placeholder 4">
              <a:extLst>
                <a:ext uri="{FF2B5EF4-FFF2-40B4-BE49-F238E27FC236}">
                  <a16:creationId xmlns:a16="http://schemas.microsoft.com/office/drawing/2014/main" id="{130B5C4F-60A7-E086-7952-B03223698A52}"/>
                </a:ext>
              </a:extLst>
            </p:cNvPr>
            <p:cNvSpPr txBox="1">
              <a:spLocks/>
            </p:cNvSpPr>
            <p:nvPr/>
          </p:nvSpPr>
          <p:spPr>
            <a:xfrm>
              <a:off x="7513240" y="5024948"/>
              <a:ext cx="3665411" cy="5577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283464" indent="-283464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600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0574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The new 2D dataset after projection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DD80E6-FA46-4AB6-2669-EDECFA703DE9}"/>
              </a:ext>
            </a:extLst>
          </p:cNvPr>
          <p:cNvGrpSpPr/>
          <p:nvPr/>
        </p:nvGrpSpPr>
        <p:grpSpPr>
          <a:xfrm>
            <a:off x="4874608" y="1942980"/>
            <a:ext cx="1811412" cy="1350726"/>
            <a:chOff x="4874608" y="1942980"/>
            <a:chExt cx="1811412" cy="1350726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D12D5E73-14DD-A584-FF7C-4309B2DF6B83}"/>
                </a:ext>
              </a:extLst>
            </p:cNvPr>
            <p:cNvSpPr/>
            <p:nvPr/>
          </p:nvSpPr>
          <p:spPr>
            <a:xfrm>
              <a:off x="4954555" y="2584580"/>
              <a:ext cx="1651518" cy="709126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ontent Placeholder 4">
              <a:extLst>
                <a:ext uri="{FF2B5EF4-FFF2-40B4-BE49-F238E27FC236}">
                  <a16:creationId xmlns:a16="http://schemas.microsoft.com/office/drawing/2014/main" id="{EAB41EBB-50F1-5660-5E59-E6DF67552306}"/>
                </a:ext>
              </a:extLst>
            </p:cNvPr>
            <p:cNvSpPr txBox="1">
              <a:spLocks/>
            </p:cNvSpPr>
            <p:nvPr/>
          </p:nvSpPr>
          <p:spPr>
            <a:xfrm>
              <a:off x="4874608" y="1942980"/>
              <a:ext cx="1811412" cy="70912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283464" indent="-283464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600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0574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dirty="0"/>
                <a:t>Project every 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dirty="0"/>
                <a:t>training instance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109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B7CCF32-8EE3-D82F-2B5C-9B1B0D7F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Manifold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31CEAB-DCED-35ED-4728-3667F615B6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463040"/>
            <a:ext cx="12182003" cy="1252168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d-dimensional manifold is a part of an n-dimensional space (where d&lt;n) that locally resembles a d-dimensional hyperplane.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2D manifold is a 2D shape that can be bent and twisted in a higher dimensional space.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1F89B7-3159-99F2-DB5D-3AB3F94B58EC}"/>
              </a:ext>
            </a:extLst>
          </p:cNvPr>
          <p:cNvGrpSpPr/>
          <p:nvPr/>
        </p:nvGrpSpPr>
        <p:grpSpPr>
          <a:xfrm>
            <a:off x="7599799" y="2981053"/>
            <a:ext cx="3352800" cy="3281420"/>
            <a:chOff x="6472335" y="3152193"/>
            <a:chExt cx="3352800" cy="32814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2F48F4-F81C-D599-C9B6-097759E648A0}"/>
                </a:ext>
              </a:extLst>
            </p:cNvPr>
            <p:cNvSpPr txBox="1"/>
            <p:nvPr/>
          </p:nvSpPr>
          <p:spPr>
            <a:xfrm>
              <a:off x="6792049" y="5848838"/>
              <a:ext cx="29117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The decision boundary is a simple straight line. </a:t>
              </a:r>
            </a:p>
          </p:txBody>
        </p:sp>
        <p:pic>
          <p:nvPicPr>
            <p:cNvPr id="6" name="Picture 5" descr="A graph of a graph with a green and yellow triangle&#10;&#10;Description automatically generated with medium confidence">
              <a:extLst>
                <a:ext uri="{FF2B5EF4-FFF2-40B4-BE49-F238E27FC236}">
                  <a16:creationId xmlns:a16="http://schemas.microsoft.com/office/drawing/2014/main" id="{60F414E3-14A5-90FF-2984-A771468A4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2335" y="3152193"/>
              <a:ext cx="3352800" cy="2667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E66432-9AFF-E836-3A19-33152A2E68A3}"/>
              </a:ext>
            </a:extLst>
          </p:cNvPr>
          <p:cNvGrpSpPr/>
          <p:nvPr/>
        </p:nvGrpSpPr>
        <p:grpSpPr>
          <a:xfrm>
            <a:off x="854693" y="2324701"/>
            <a:ext cx="3505200" cy="3645384"/>
            <a:chOff x="854693" y="2466393"/>
            <a:chExt cx="3505200" cy="3645384"/>
          </a:xfrm>
        </p:grpSpPr>
        <p:pic>
          <p:nvPicPr>
            <p:cNvPr id="3" name="Picture 2" descr="A screenshot of a computer generated graph&#10;&#10;Description automatically generated">
              <a:extLst>
                <a:ext uri="{FF2B5EF4-FFF2-40B4-BE49-F238E27FC236}">
                  <a16:creationId xmlns:a16="http://schemas.microsoft.com/office/drawing/2014/main" id="{DE724455-8924-F62A-B7B4-6A2DF2CD0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4693" y="2466393"/>
              <a:ext cx="3505200" cy="33528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FB261F-862B-396D-B0BC-A0A3BDDDE10D}"/>
                </a:ext>
              </a:extLst>
            </p:cNvPr>
            <p:cNvSpPr txBox="1"/>
            <p:nvPr/>
          </p:nvSpPr>
          <p:spPr>
            <a:xfrm>
              <a:off x="1151399" y="5773223"/>
              <a:ext cx="29117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Manifold the data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BA080E-2221-1C4A-3450-3CAF1A0D2141}"/>
              </a:ext>
            </a:extLst>
          </p:cNvPr>
          <p:cNvGrpSpPr/>
          <p:nvPr/>
        </p:nvGrpSpPr>
        <p:grpSpPr>
          <a:xfrm>
            <a:off x="5074140" y="3315024"/>
            <a:ext cx="1811412" cy="1315617"/>
            <a:chOff x="4545692" y="3306146"/>
            <a:chExt cx="1811412" cy="1315617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B57D445E-40A8-742A-7C57-D46E260342C9}"/>
                </a:ext>
              </a:extLst>
            </p:cNvPr>
            <p:cNvSpPr/>
            <p:nvPr/>
          </p:nvSpPr>
          <p:spPr>
            <a:xfrm>
              <a:off x="4590355" y="3912637"/>
              <a:ext cx="1651518" cy="709126"/>
            </a:xfrm>
            <a:prstGeom prst="rightArrow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ntent Placeholder 4">
              <a:extLst>
                <a:ext uri="{FF2B5EF4-FFF2-40B4-BE49-F238E27FC236}">
                  <a16:creationId xmlns:a16="http://schemas.microsoft.com/office/drawing/2014/main" id="{1259D53D-BD16-100D-91AA-F41C985583F5}"/>
                </a:ext>
              </a:extLst>
            </p:cNvPr>
            <p:cNvSpPr txBox="1">
              <a:spLocks/>
            </p:cNvSpPr>
            <p:nvPr/>
          </p:nvSpPr>
          <p:spPr>
            <a:xfrm>
              <a:off x="4545692" y="3306146"/>
              <a:ext cx="1811412" cy="70912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283464" indent="-283464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600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600" kern="1200" dirty="0" smtClean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0574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dirty="0"/>
                <a:t>Split into two classes.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440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01757A4-21F4-08EC-725D-4627EA3F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Component Analysis (PCA)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BCCD2A-A198-A55E-96E0-0420574082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463040"/>
            <a:ext cx="6631004" cy="260293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PCA is the most popular dimensionality reduction algorithm.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PCA has two steps:</a:t>
            </a:r>
          </a:p>
          <a:p>
            <a:pPr marL="626364" lvl="1" indent="-342900">
              <a:buFont typeface="+mj-lt"/>
              <a:buAutoNum type="arabicPeriod"/>
            </a:pPr>
            <a:r>
              <a:rPr lang="en-US" dirty="0"/>
              <a:t>It identifies the hyperplane that lies closest to the data</a:t>
            </a:r>
          </a:p>
          <a:p>
            <a:pPr marL="626364" lvl="1" indent="-342900">
              <a:buFont typeface="+mj-lt"/>
              <a:buAutoNum type="arabicPeriod"/>
            </a:pPr>
            <a:r>
              <a:rPr lang="en-US" dirty="0"/>
              <a:t>It projects the data onto it. 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F45818BE-32ED-3E7E-979C-020D6C004FC2}"/>
              </a:ext>
            </a:extLst>
          </p:cNvPr>
          <p:cNvSpPr txBox="1">
            <a:spLocks/>
          </p:cNvSpPr>
          <p:nvPr/>
        </p:nvSpPr>
        <p:spPr>
          <a:xfrm>
            <a:off x="4567045" y="4216893"/>
            <a:ext cx="6174936" cy="2024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Preserving the variance.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Principal Components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Projecting down to d-dimensions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BA67B56-7257-1DCD-F350-5B867086C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Kernal PCA (</a:t>
            </a:r>
            <a:r>
              <a:rPr lang="en-US" dirty="0" err="1"/>
              <a:t>kPCA</a:t>
            </a:r>
            <a:r>
              <a:rPr lang="en-US" dirty="0"/>
              <a:t>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FBB393-5329-2C86-93CE-5E587E3D3D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11210543" cy="171869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Making kernel trick possible to perform complex non-linear projections for dimensionality reduction.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Kernel Trick A mathematical technique that implicitly maps instances into a very high-dimensional space.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is often good at preserving clusters of instances after projection.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A1B7F3-6437-BDB7-D410-19DA0A503477}"/>
              </a:ext>
            </a:extLst>
          </p:cNvPr>
          <p:cNvGrpSpPr/>
          <p:nvPr/>
        </p:nvGrpSpPr>
        <p:grpSpPr>
          <a:xfrm>
            <a:off x="1984212" y="3429000"/>
            <a:ext cx="7477125" cy="3098927"/>
            <a:chOff x="1984212" y="3429000"/>
            <a:chExt cx="7477125" cy="3098927"/>
          </a:xfrm>
        </p:grpSpPr>
        <p:pic>
          <p:nvPicPr>
            <p:cNvPr id="3" name="Picture 2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D1734D0D-F4A3-C238-67D3-CBE85B79F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4212" y="3429000"/>
              <a:ext cx="7477125" cy="2667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83E21D9-369B-05BE-4FFB-29AF3F630EB4}"/>
                </a:ext>
              </a:extLst>
            </p:cNvPr>
            <p:cNvSpPr txBox="1"/>
            <p:nvPr/>
          </p:nvSpPr>
          <p:spPr>
            <a:xfrm>
              <a:off x="4165060" y="6158595"/>
              <a:ext cx="4376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</a:t>
              </a:r>
              <a:r>
                <a:rPr lang="en-US" i="1" dirty="0" err="1"/>
                <a:t>kPCA</a:t>
              </a:r>
              <a:r>
                <a:rPr lang="en-US" i="1" dirty="0"/>
                <a:t> with various kernels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525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1A379-5E51-43E4-035C-2630E682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Locally Linear Embedding (LLE)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CCE1C70-A932-9B3D-FC41-7A75762BED7A}"/>
              </a:ext>
            </a:extLst>
          </p:cNvPr>
          <p:cNvSpPr txBox="1">
            <a:spLocks/>
          </p:cNvSpPr>
          <p:nvPr/>
        </p:nvSpPr>
        <p:spPr>
          <a:xfrm>
            <a:off x="444500" y="1453896"/>
            <a:ext cx="8242299" cy="1830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LLE is powerful non-linear dimensionality reduction method.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Does not rely on projection.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Measuring how each instance linearly relates to its closest neighbors.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7F1498-7A14-127D-747D-CF252DEE49B9}"/>
              </a:ext>
            </a:extLst>
          </p:cNvPr>
          <p:cNvGrpSpPr/>
          <p:nvPr/>
        </p:nvGrpSpPr>
        <p:grpSpPr>
          <a:xfrm>
            <a:off x="3400911" y="3284375"/>
            <a:ext cx="5540795" cy="3036332"/>
            <a:chOff x="3400911" y="3284375"/>
            <a:chExt cx="5540795" cy="3036332"/>
          </a:xfrm>
        </p:grpSpPr>
        <p:pic>
          <p:nvPicPr>
            <p:cNvPr id="3" name="Picture 2" descr="A screen shot of a graph&#10;&#10;Description automatically generated">
              <a:extLst>
                <a:ext uri="{FF2B5EF4-FFF2-40B4-BE49-F238E27FC236}">
                  <a16:creationId xmlns:a16="http://schemas.microsoft.com/office/drawing/2014/main" id="{C59E0BFB-F2F3-7150-7D29-DC031A240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0911" y="3284375"/>
              <a:ext cx="3971925" cy="26670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F3D7A4-6E13-941A-B811-9231D10F2C47}"/>
                </a:ext>
              </a:extLst>
            </p:cNvPr>
            <p:cNvSpPr txBox="1"/>
            <p:nvPr/>
          </p:nvSpPr>
          <p:spPr>
            <a:xfrm>
              <a:off x="4565649" y="5951375"/>
              <a:ext cx="4376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LLE Technique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291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1A379-5E51-43E4-035C-2630E682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Dimensionality Reduction Techniques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CCE1C70-A932-9B3D-FC41-7A75762BED7A}"/>
              </a:ext>
            </a:extLst>
          </p:cNvPr>
          <p:cNvSpPr txBox="1">
            <a:spLocks/>
          </p:cNvSpPr>
          <p:nvPr/>
        </p:nvSpPr>
        <p:spPr>
          <a:xfrm>
            <a:off x="444500" y="1133343"/>
            <a:ext cx="10854871" cy="274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Random Projections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Random Projections, depend on numbers of instances and targeted dimensionality.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9718" indent="-285750"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Isomap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Creates a graph by connecting each instance to its nearest neighbours.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9718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T-Distributed Stochastic Neighbor Embedding(t-SNE)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Keep similar instance close and dissimilar instance apart.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9718" indent="-285750"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Linear Discriminant Analysis(LDA)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Classification, Keep classes as far apart as possible.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1E8D49-E8CC-1730-86A6-4496FC66A16C}"/>
              </a:ext>
            </a:extLst>
          </p:cNvPr>
          <p:cNvGrpSpPr/>
          <p:nvPr/>
        </p:nvGrpSpPr>
        <p:grpSpPr>
          <a:xfrm>
            <a:off x="1988973" y="3876543"/>
            <a:ext cx="7467600" cy="2851666"/>
            <a:chOff x="1988973" y="3876543"/>
            <a:chExt cx="7467600" cy="2851666"/>
          </a:xfrm>
        </p:grpSpPr>
        <p:pic>
          <p:nvPicPr>
            <p:cNvPr id="3" name="Picture 2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D461A1D6-4000-08B1-5A07-0F81D889F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8973" y="3876543"/>
              <a:ext cx="7467600" cy="2667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4B2F440-7699-57F8-75D0-A8EE374F8347}"/>
                </a:ext>
              </a:extLst>
            </p:cNvPr>
            <p:cNvSpPr txBox="1"/>
            <p:nvPr/>
          </p:nvSpPr>
          <p:spPr>
            <a:xfrm>
              <a:off x="4219775" y="6358877"/>
              <a:ext cx="4376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Various Techniques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517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66E636-D1D5-3AAC-5CD5-A2F5C585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461" y="2313172"/>
            <a:ext cx="6625077" cy="1687085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72686330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F3D1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889724_Win32" id="{A47D2243-58B7-4EA1-AC61-F4DDB07AC155}" vid="{5B84BEAD-BCA6-42F5-9270-6ECA397995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EFEE82-03DD-4F90-81E2-2AF29E1D81F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0C6F549-03FF-4828-9BD8-8F40C0A2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B6FBE4-5ACD-4115-9139-635E82C3D35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Online presentation tips</Template>
  <TotalTime>323</TotalTime>
  <Words>379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Wingdings</vt:lpstr>
      <vt:lpstr>WelcomeDoc</vt:lpstr>
      <vt:lpstr>Dimensionality Reduction</vt:lpstr>
      <vt:lpstr>Outlines </vt:lpstr>
      <vt:lpstr>The Curse of Dimensionality </vt:lpstr>
      <vt:lpstr>Main Approaches for Dimensionality Reduction</vt:lpstr>
      <vt:lpstr>Projection</vt:lpstr>
      <vt:lpstr>Manifold Learning</vt:lpstr>
      <vt:lpstr>Principle Component Analysis (PCA)</vt:lpstr>
      <vt:lpstr>Kernal PCA (kPCA)</vt:lpstr>
      <vt:lpstr>Locally Linear Embedding (LLE)</vt:lpstr>
      <vt:lpstr>Other Dimensionality Reduction Techniques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Dimensionality Reduction</dc:title>
  <dc:creator>우마르 무하마드</dc:creator>
  <cp:keywords/>
  <cp:lastModifiedBy>우마르 무하마드</cp:lastModifiedBy>
  <cp:revision>4</cp:revision>
  <dcterms:created xsi:type="dcterms:W3CDTF">2024-04-26T08:27:53Z</dcterms:created>
  <dcterms:modified xsi:type="dcterms:W3CDTF">2024-04-26T13:51:04Z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