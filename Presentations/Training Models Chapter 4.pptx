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1" autoAdjust="0"/>
    <p:restoredTop sz="85696" autoAdjust="0"/>
  </p:normalViewPr>
  <p:slideViewPr>
    <p:cSldViewPr snapToGrid="0">
      <p:cViewPr varScale="1">
        <p:scale>
          <a:sx n="97" d="100"/>
          <a:sy n="97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9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37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Cybernetics and brain 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Symbolic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Sub-symbolic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Statistical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Integrating the approaches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37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Search and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Probabilistic methods for uncertain reasoning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Classifiers and statistical learning methods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Artificial neural networks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Evaluating progress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6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71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67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07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7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49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7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54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5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8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766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D60C94-0C9C-47B7-BE88-045235ACC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5885" y="1552397"/>
            <a:ext cx="7231784" cy="3654081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813510" y="4144300"/>
            <a:ext cx="3610575" cy="649224"/>
          </a:xfrm>
        </p:spPr>
        <p:txBody>
          <a:bodyPr anchor="ctr">
            <a:normAutofit fontScale="92500" lnSpcReduction="20000"/>
          </a:bodyPr>
          <a:lstStyle/>
          <a:p>
            <a:pPr algn="ctr"/>
            <a:r>
              <a:rPr lang="en-US" sz="1800" cap="none" dirty="0"/>
              <a:t>Muhammad Umar</a:t>
            </a:r>
          </a:p>
          <a:p>
            <a:pPr algn="ctr"/>
            <a:r>
              <a:rPr lang="en-US" sz="1800" dirty="0"/>
              <a:t>UIAI </a:t>
            </a:r>
            <a:r>
              <a:rPr lang="en-US" sz="1800" cap="none" dirty="0"/>
              <a:t>Lab</a:t>
            </a:r>
            <a:endParaRPr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F7016-AC99-433F-B943-24C3736E0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0"/>
            <a:ext cx="7579574" cy="64361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3737D1-A930-4E3E-9160-3CD4AEC72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1" y="453642"/>
            <a:ext cx="3615596" cy="6451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CFF33-010E-4E26-A285-83B182982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707627"/>
            <a:ext cx="11293913" cy="6492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4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155905" y="1113765"/>
            <a:ext cx="6108179" cy="3558720"/>
          </a:xfrm>
        </p:spPr>
        <p:txBody>
          <a:bodyPr anchor="ctr">
            <a:normAutofit/>
          </a:bodyPr>
          <a:lstStyle/>
          <a:p>
            <a:r>
              <a:rPr lang="en-US" dirty="0"/>
              <a:t>Linear Regression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Polynomial Regression</a:t>
            </a:r>
          </a:p>
          <a:p>
            <a:r>
              <a:rPr lang="en-US" dirty="0"/>
              <a:t>Learning Curve</a:t>
            </a:r>
          </a:p>
          <a:p>
            <a:r>
              <a:rPr lang="en-US" dirty="0"/>
              <a:t>Regularized Linear Models</a:t>
            </a:r>
          </a:p>
          <a:p>
            <a:r>
              <a:rPr lang="en-US" dirty="0"/>
              <a:t>Logistic Regression </a:t>
            </a:r>
          </a:p>
        </p:txBody>
      </p:sp>
    </p:spTree>
    <p:extLst>
      <p:ext uri="{BB962C8B-B14F-4D97-AF65-F5344CB8AC3E}">
        <p14:creationId xmlns:p14="http://schemas.microsoft.com/office/powerpoint/2010/main" val="194892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Linear 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55905" y="1113764"/>
                <a:ext cx="6108179" cy="4624327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ar-AE" sz="2000" b="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ar-AE" sz="2000" b="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ar-AE" sz="2000" b="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ar-AE" sz="2000" b="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ar-AE" sz="2000" b="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+…+ </m:t>
                    </m:r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b="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sz="1600" i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ar-AE" b="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  <m:r>
                      <a:rPr lang="ar-AE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predicted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value</m:t>
                    </m:r>
                  </m:oMath>
                </a14:m>
                <a:endParaRPr lang="en-US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 :   size of data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 :   input data</a:t>
                </a:r>
              </a:p>
              <a:p>
                <a14:m>
                  <m:oMath xmlns:m="http://schemas.openxmlformats.org/officeDocument/2006/math">
                    <m:r>
                      <a:rPr lang="en-US" sz="20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𝑀𝑆𝐸</m:t>
                    </m:r>
                    <m:d>
                      <m:dPr>
                        <m:ctrlP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r>
                      <a:rPr lang="en-US" sz="20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0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8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Mean Squared Error</a:t>
                </a:r>
              </a:p>
              <a:p>
                <a:pPr lvl="2"/>
                <a:r>
                  <a:rPr lang="en-US" sz="16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Cost function</a:t>
                </a:r>
              </a:p>
              <a:p>
                <a:pPr lvl="2"/>
                <a:r>
                  <a:rPr lang="en-US" sz="16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Predicted Value – Actual Value</a:t>
                </a:r>
              </a:p>
              <a:p>
                <a:pPr lvl="2"/>
                <a:r>
                  <a:rPr lang="en-US" sz="16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Similar to</a:t>
                </a:r>
                <a:r>
                  <a:rPr lang="en-US" sz="16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the actual values, MSE value is small</a:t>
                </a:r>
              </a:p>
              <a:p>
                <a:pPr marL="324000" lvl="1" indent="0">
                  <a:buNone/>
                </a:pP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5905" y="1113764"/>
                <a:ext cx="6108179" cy="4624327"/>
              </a:xfrm>
              <a:blipFill>
                <a:blip r:embed="rId2"/>
                <a:stretch>
                  <a:fillRect l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24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957" y="597587"/>
            <a:ext cx="3068656" cy="2452206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Gradient Descent and its 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5905" y="576890"/>
            <a:ext cx="6770624" cy="1918010"/>
          </a:xfrm>
        </p:spPr>
        <p:txBody>
          <a:bodyPr anchor="ctr">
            <a:normAutofit/>
          </a:bodyPr>
          <a:lstStyle/>
          <a:p>
            <a:r>
              <a:rPr lang="en-US" dirty="0"/>
              <a:t>Method to find local optima (maximum or minimum)</a:t>
            </a:r>
          </a:p>
          <a:p>
            <a:r>
              <a:rPr lang="en-US" dirty="0"/>
              <a:t>To adjust the parameters repeatedly to minimize the cost function</a:t>
            </a:r>
          </a:p>
          <a:p>
            <a:r>
              <a:rPr lang="en-US" dirty="0"/>
              <a:t>Gradient tells us direction of greatest increase</a:t>
            </a:r>
          </a:p>
          <a:p>
            <a:r>
              <a:rPr lang="en-US" dirty="0"/>
              <a:t>Learning step is learning rate</a:t>
            </a:r>
            <a:endParaRPr dirty="0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79857AB-CB79-E973-51DE-3DE43BC767DF}"/>
              </a:ext>
            </a:extLst>
          </p:cNvPr>
          <p:cNvGrpSpPr/>
          <p:nvPr/>
        </p:nvGrpSpPr>
        <p:grpSpPr>
          <a:xfrm>
            <a:off x="8267862" y="2887087"/>
            <a:ext cx="4147134" cy="3526819"/>
            <a:chOff x="8267862" y="2887087"/>
            <a:chExt cx="4147134" cy="3526819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CB2CCEB-D4B5-CE67-2AC2-F2BAB8A6653D}"/>
                </a:ext>
              </a:extLst>
            </p:cNvPr>
            <p:cNvGrpSpPr/>
            <p:nvPr/>
          </p:nvGrpSpPr>
          <p:grpSpPr>
            <a:xfrm>
              <a:off x="8267862" y="2887087"/>
              <a:ext cx="3772102" cy="3220198"/>
              <a:chOff x="8716897" y="3911175"/>
              <a:chExt cx="3282598" cy="2379620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01A7F5AF-5106-86FB-8126-02F68DD556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840908" y="4218952"/>
                <a:ext cx="22240" cy="17115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9162623-0ABA-D051-7FDA-D32DE72FD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66414" y="5918106"/>
                <a:ext cx="3133081" cy="124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8104145-4E0A-0E19-2664-3DF12730F808}"/>
                  </a:ext>
                </a:extLst>
              </p:cNvPr>
              <p:cNvSpPr/>
              <p:nvPr/>
            </p:nvSpPr>
            <p:spPr>
              <a:xfrm>
                <a:off x="8995881" y="5061684"/>
                <a:ext cx="2855224" cy="728862"/>
              </a:xfrm>
              <a:custGeom>
                <a:avLst/>
                <a:gdLst>
                  <a:gd name="connsiteX0" fmla="*/ 0 w 2855224"/>
                  <a:gd name="connsiteY0" fmla="*/ 0 h 728862"/>
                  <a:gd name="connsiteX1" fmla="*/ 312092 w 2855224"/>
                  <a:gd name="connsiteY1" fmla="*/ 724487 h 728862"/>
                  <a:gd name="connsiteX2" fmla="*/ 725404 w 2855224"/>
                  <a:gd name="connsiteY2" fmla="*/ 237837 h 728862"/>
                  <a:gd name="connsiteX3" fmla="*/ 1130281 w 2855224"/>
                  <a:gd name="connsiteY3" fmla="*/ 728146 h 728862"/>
                  <a:gd name="connsiteX4" fmla="*/ 1640593 w 2855224"/>
                  <a:gd name="connsiteY4" fmla="*/ 347607 h 728862"/>
                  <a:gd name="connsiteX5" fmla="*/ 2610611 w 2855224"/>
                  <a:gd name="connsiteY5" fmla="*/ 362243 h 728862"/>
                  <a:gd name="connsiteX6" fmla="*/ 2855224 w 2855224"/>
                  <a:gd name="connsiteY6" fmla="*/ 186610 h 72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5224" h="728862" extrusionOk="0">
                    <a:moveTo>
                      <a:pt x="0" y="0"/>
                    </a:moveTo>
                    <a:cubicBezTo>
                      <a:pt x="81983" y="334026"/>
                      <a:pt x="166795" y="694004"/>
                      <a:pt x="312092" y="724487"/>
                    </a:cubicBezTo>
                    <a:cubicBezTo>
                      <a:pt x="469973" y="771912"/>
                      <a:pt x="552920" y="238375"/>
                      <a:pt x="725404" y="237837"/>
                    </a:cubicBezTo>
                    <a:cubicBezTo>
                      <a:pt x="857362" y="242748"/>
                      <a:pt x="976619" y="716098"/>
                      <a:pt x="1130281" y="728146"/>
                    </a:cubicBezTo>
                    <a:cubicBezTo>
                      <a:pt x="1264398" y="736366"/>
                      <a:pt x="1432923" y="427249"/>
                      <a:pt x="1640593" y="347607"/>
                    </a:cubicBezTo>
                    <a:cubicBezTo>
                      <a:pt x="1910247" y="289344"/>
                      <a:pt x="2416718" y="371491"/>
                      <a:pt x="2610611" y="362243"/>
                    </a:cubicBezTo>
                    <a:cubicBezTo>
                      <a:pt x="2801412" y="333629"/>
                      <a:pt x="2805737" y="227192"/>
                      <a:pt x="2855224" y="186610"/>
                    </a:cubicBezTo>
                  </a:path>
                </a:pathLst>
              </a:custGeom>
              <a:noFill/>
              <a:ln w="12700" cap="flat">
                <a:solidFill>
                  <a:schemeClr val="accent1">
                    <a:shade val="15000"/>
                  </a:schemeClr>
                </a:solidFill>
                <a:tailEnd w="sm" len="sm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210889"/>
                          <a:gd name="connsiteY0" fmla="*/ 0 h 650516"/>
                          <a:gd name="connsiteX1" fmla="*/ 241663 w 2210889"/>
                          <a:gd name="connsiteY1" fmla="*/ 646612 h 650516"/>
                          <a:gd name="connsiteX2" fmla="*/ 561703 w 2210889"/>
                          <a:gd name="connsiteY2" fmla="*/ 212272 h 650516"/>
                          <a:gd name="connsiteX3" fmla="*/ 875212 w 2210889"/>
                          <a:gd name="connsiteY3" fmla="*/ 649877 h 650516"/>
                          <a:gd name="connsiteX4" fmla="*/ 1270363 w 2210889"/>
                          <a:gd name="connsiteY4" fmla="*/ 310243 h 650516"/>
                          <a:gd name="connsiteX5" fmla="*/ 2021478 w 2210889"/>
                          <a:gd name="connsiteY5" fmla="*/ 323306 h 650516"/>
                          <a:gd name="connsiteX6" fmla="*/ 2210889 w 2210889"/>
                          <a:gd name="connsiteY6" fmla="*/ 166552 h 6505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210889" h="650516">
                            <a:moveTo>
                              <a:pt x="0" y="0"/>
                            </a:moveTo>
                            <a:cubicBezTo>
                              <a:pt x="74023" y="305616"/>
                              <a:pt x="148046" y="611233"/>
                              <a:pt x="241663" y="646612"/>
                            </a:cubicBezTo>
                            <a:cubicBezTo>
                              <a:pt x="335280" y="681991"/>
                              <a:pt x="456112" y="211728"/>
                              <a:pt x="561703" y="212272"/>
                            </a:cubicBezTo>
                            <a:cubicBezTo>
                              <a:pt x="667294" y="212816"/>
                              <a:pt x="757102" y="633549"/>
                              <a:pt x="875212" y="649877"/>
                            </a:cubicBezTo>
                            <a:cubicBezTo>
                              <a:pt x="993322" y="666206"/>
                              <a:pt x="1079319" y="364671"/>
                              <a:pt x="1270363" y="310243"/>
                            </a:cubicBezTo>
                            <a:cubicBezTo>
                              <a:pt x="1461407" y="255815"/>
                              <a:pt x="1864724" y="347254"/>
                              <a:pt x="2021478" y="323306"/>
                            </a:cubicBezTo>
                            <a:cubicBezTo>
                              <a:pt x="2178232" y="299358"/>
                              <a:pt x="2179865" y="194855"/>
                              <a:pt x="2210889" y="166552"/>
                            </a:cubicBezTo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700C098-C9BC-E79B-B3AA-30F058344797}"/>
                  </a:ext>
                </a:extLst>
              </p:cNvPr>
              <p:cNvSpPr/>
              <p:nvPr/>
            </p:nvSpPr>
            <p:spPr>
              <a:xfrm>
                <a:off x="8967231" y="5133569"/>
                <a:ext cx="132732" cy="1086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411E775-B78A-8304-078E-80954CC7B89D}"/>
                  </a:ext>
                </a:extLst>
              </p:cNvPr>
              <p:cNvSpPr/>
              <p:nvPr/>
            </p:nvSpPr>
            <p:spPr>
              <a:xfrm>
                <a:off x="9047928" y="5442659"/>
                <a:ext cx="132732" cy="1086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6C9155C-2251-D32F-35B9-0C635C8B5C9B}"/>
                  </a:ext>
                </a:extLst>
              </p:cNvPr>
              <p:cNvSpPr/>
              <p:nvPr/>
            </p:nvSpPr>
            <p:spPr>
              <a:xfrm>
                <a:off x="9245261" y="5713445"/>
                <a:ext cx="132732" cy="1295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1012E95-FE92-2FDB-81AF-ECC2B6EF1151}"/>
                  </a:ext>
                </a:extLst>
              </p:cNvPr>
              <p:cNvSpPr/>
              <p:nvPr/>
            </p:nvSpPr>
            <p:spPr>
              <a:xfrm>
                <a:off x="11019640" y="5322092"/>
                <a:ext cx="132732" cy="1323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DF9A0A99-A8F7-755D-537A-0EAB67733ED4}"/>
                  </a:ext>
                </a:extLst>
              </p:cNvPr>
              <p:cNvSpPr/>
              <p:nvPr/>
            </p:nvSpPr>
            <p:spPr>
              <a:xfrm>
                <a:off x="11269155" y="5356612"/>
                <a:ext cx="132732" cy="1199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B93E9CC-CD4D-D1B6-2EBC-B3F7FD6A8FC6}"/>
                  </a:ext>
                </a:extLst>
              </p:cNvPr>
              <p:cNvSpPr/>
              <p:nvPr/>
            </p:nvSpPr>
            <p:spPr>
              <a:xfrm>
                <a:off x="11492865" y="5352449"/>
                <a:ext cx="132732" cy="1336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F41ADA4-4765-736D-DECB-BD487FA39A28}"/>
                  </a:ext>
                </a:extLst>
              </p:cNvPr>
              <p:cNvSpPr/>
              <p:nvPr/>
            </p:nvSpPr>
            <p:spPr>
              <a:xfrm>
                <a:off x="11775836" y="5219611"/>
                <a:ext cx="132732" cy="12851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Connector: Curved 68">
                <a:extLst>
                  <a:ext uri="{FF2B5EF4-FFF2-40B4-BE49-F238E27FC236}">
                    <a16:creationId xmlns:a16="http://schemas.microsoft.com/office/drawing/2014/main" id="{9F273F2F-0867-0F32-E3DF-F646248E6773}"/>
                  </a:ext>
                </a:extLst>
              </p:cNvPr>
              <p:cNvCxnSpPr>
                <a:cxnSpLocks/>
                <a:stCxn id="61" idx="6"/>
                <a:endCxn id="62" idx="7"/>
              </p:cNvCxnSpPr>
              <p:nvPr/>
            </p:nvCxnSpPr>
            <p:spPr>
              <a:xfrm>
                <a:off x="9099963" y="5187913"/>
                <a:ext cx="61259" cy="270664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or: Curved 70">
                <a:extLst>
                  <a:ext uri="{FF2B5EF4-FFF2-40B4-BE49-F238E27FC236}">
                    <a16:creationId xmlns:a16="http://schemas.microsoft.com/office/drawing/2014/main" id="{98C3292E-6E86-414C-F95C-B4F4CAC9D825}"/>
                  </a:ext>
                </a:extLst>
              </p:cNvPr>
              <p:cNvCxnSpPr>
                <a:cxnSpLocks/>
                <a:stCxn id="62" idx="6"/>
                <a:endCxn id="63" idx="0"/>
              </p:cNvCxnSpPr>
              <p:nvPr/>
            </p:nvCxnSpPr>
            <p:spPr>
              <a:xfrm>
                <a:off x="9180660" y="5497003"/>
                <a:ext cx="130967" cy="216442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nector: Curved 71">
                <a:extLst>
                  <a:ext uri="{FF2B5EF4-FFF2-40B4-BE49-F238E27FC236}">
                    <a16:creationId xmlns:a16="http://schemas.microsoft.com/office/drawing/2014/main" id="{2E76BA16-A48B-3600-D2A8-55E4C4DB72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1184302" y="5208170"/>
                <a:ext cx="30281" cy="255227"/>
              </a:xfrm>
              <a:prstGeom prst="curvedConnector3">
                <a:avLst>
                  <a:gd name="adj1" fmla="val -754929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nector: Curved 137">
                <a:extLst>
                  <a:ext uri="{FF2B5EF4-FFF2-40B4-BE49-F238E27FC236}">
                    <a16:creationId xmlns:a16="http://schemas.microsoft.com/office/drawing/2014/main" id="{FF90589F-E565-D952-20AE-9EEC0C77D7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1444646" y="5215790"/>
                <a:ext cx="30281" cy="255227"/>
              </a:xfrm>
              <a:prstGeom prst="curvedConnector3">
                <a:avLst>
                  <a:gd name="adj1" fmla="val -65115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nector: Curved 158">
                <a:extLst>
                  <a:ext uri="{FF2B5EF4-FFF2-40B4-BE49-F238E27FC236}">
                    <a16:creationId xmlns:a16="http://schemas.microsoft.com/office/drawing/2014/main" id="{91845ED9-4FE4-5743-7D91-CC1B1F00D241}"/>
                  </a:ext>
                </a:extLst>
              </p:cNvPr>
              <p:cNvCxnSpPr>
                <a:cxnSpLocks/>
                <a:endCxn id="67" idx="0"/>
              </p:cNvCxnSpPr>
              <p:nvPr/>
            </p:nvCxnSpPr>
            <p:spPr>
              <a:xfrm flipV="1">
                <a:off x="11587400" y="5219611"/>
                <a:ext cx="254803" cy="73742"/>
              </a:xfrm>
              <a:prstGeom prst="curvedConnector4">
                <a:avLst>
                  <a:gd name="adj1" fmla="val -8566"/>
                  <a:gd name="adj2" fmla="val 329079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6C0820CD-CCBD-5CF2-DF3B-771D0BD603B0}"/>
                  </a:ext>
                </a:extLst>
              </p:cNvPr>
              <p:cNvSpPr txBox="1"/>
              <p:nvPr/>
            </p:nvSpPr>
            <p:spPr>
              <a:xfrm>
                <a:off x="8716897" y="3911175"/>
                <a:ext cx="8886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Cost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2D41FE8-0151-D0AB-E471-D5B17DEE6D08}"/>
                  </a:ext>
                </a:extLst>
              </p:cNvPr>
              <p:cNvSpPr txBox="1"/>
              <p:nvPr/>
            </p:nvSpPr>
            <p:spPr>
              <a:xfrm>
                <a:off x="8867302" y="5983018"/>
                <a:ext cx="16534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Local minimum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ECA75B6-69FC-966B-9110-201E96ABA8A4}"/>
                  </a:ext>
                </a:extLst>
              </p:cNvPr>
              <p:cNvSpPr txBox="1"/>
              <p:nvPr/>
            </p:nvSpPr>
            <p:spPr>
              <a:xfrm>
                <a:off x="10183180" y="5675526"/>
                <a:ext cx="15750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Global minimum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F9A2C40-0E5C-7310-B5C1-AA075D6C60C6}"/>
                  </a:ext>
                </a:extLst>
              </p:cNvPr>
              <p:cNvSpPr txBox="1"/>
              <p:nvPr/>
            </p:nvSpPr>
            <p:spPr>
              <a:xfrm>
                <a:off x="10852789" y="4786105"/>
                <a:ext cx="998316" cy="22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Plateau</a:t>
                </a:r>
              </a:p>
            </p:txBody>
          </p: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E8CC1B4-9436-4558-7233-B16AB8B9AA85}"/>
                </a:ext>
              </a:extLst>
            </p:cNvPr>
            <p:cNvSpPr txBox="1"/>
            <p:nvPr/>
          </p:nvSpPr>
          <p:spPr>
            <a:xfrm>
              <a:off x="9252840" y="6106129"/>
              <a:ext cx="31621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Figure: Gradient Descent pitfalls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A4AE35F-CE12-9FE5-F8EC-C668E5514953}"/>
              </a:ext>
            </a:extLst>
          </p:cNvPr>
          <p:cNvGrpSpPr/>
          <p:nvPr/>
        </p:nvGrpSpPr>
        <p:grpSpPr>
          <a:xfrm>
            <a:off x="4703790" y="2623664"/>
            <a:ext cx="4061954" cy="3799766"/>
            <a:chOff x="4703790" y="2623664"/>
            <a:chExt cx="4061954" cy="3799766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B161CD1E-3906-73D7-3EDE-598C78688545}"/>
                </a:ext>
              </a:extLst>
            </p:cNvPr>
            <p:cNvGrpSpPr/>
            <p:nvPr/>
          </p:nvGrpSpPr>
          <p:grpSpPr>
            <a:xfrm>
              <a:off x="4703790" y="2623664"/>
              <a:ext cx="3661271" cy="3453516"/>
              <a:chOff x="5394959" y="4166756"/>
              <a:chExt cx="2234873" cy="2261072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8BCD549-BDB7-D44B-34A9-DF75A70DAAD2}"/>
                  </a:ext>
                </a:extLst>
              </p:cNvPr>
              <p:cNvCxnSpPr/>
              <p:nvPr/>
            </p:nvCxnSpPr>
            <p:spPr>
              <a:xfrm>
                <a:off x="5643716" y="6115665"/>
                <a:ext cx="19861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C2D7D8F-DB23-5F21-0B3E-FBFCEB1E5AFA}"/>
                  </a:ext>
                </a:extLst>
              </p:cNvPr>
              <p:cNvCxnSpPr/>
              <p:nvPr/>
            </p:nvCxnSpPr>
            <p:spPr>
              <a:xfrm flipV="1">
                <a:off x="5643716" y="4630994"/>
                <a:ext cx="0" cy="14846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A02858C-63F8-F2A1-467C-C55441B28089}"/>
                  </a:ext>
                </a:extLst>
              </p:cNvPr>
              <p:cNvSpPr/>
              <p:nvPr/>
            </p:nvSpPr>
            <p:spPr>
              <a:xfrm rot="5400000">
                <a:off x="5669487" y="4277128"/>
                <a:ext cx="1685749" cy="1465005"/>
              </a:xfrm>
              <a:prstGeom prst="arc">
                <a:avLst>
                  <a:gd name="adj1" fmla="val 15883448"/>
                  <a:gd name="adj2" fmla="val 5686326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B1DE8B2-9D40-D474-6244-A19EC09F08CA}"/>
                  </a:ext>
                </a:extLst>
              </p:cNvPr>
              <p:cNvSpPr/>
              <p:nvPr/>
            </p:nvSpPr>
            <p:spPr>
              <a:xfrm>
                <a:off x="5739919" y="5096480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1EED2F3-C1AC-32F7-D33A-9C8760B8912D}"/>
                  </a:ext>
                </a:extLst>
              </p:cNvPr>
              <p:cNvSpPr/>
              <p:nvPr/>
            </p:nvSpPr>
            <p:spPr>
              <a:xfrm>
                <a:off x="5785115" y="5248350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120A2A8-B909-F657-648E-17CF5DA04D1E}"/>
                  </a:ext>
                </a:extLst>
              </p:cNvPr>
              <p:cNvSpPr/>
              <p:nvPr/>
            </p:nvSpPr>
            <p:spPr>
              <a:xfrm>
                <a:off x="5851481" y="5393381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D8AD390-633D-6C96-7AA5-34A991132581}"/>
                  </a:ext>
                </a:extLst>
              </p:cNvPr>
              <p:cNvSpPr/>
              <p:nvPr/>
            </p:nvSpPr>
            <p:spPr>
              <a:xfrm>
                <a:off x="5944204" y="5534586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E27DCC8-D2AD-38F9-5433-6E3DD6C45FA2}"/>
                  </a:ext>
                </a:extLst>
              </p:cNvPr>
              <p:cNvSpPr/>
              <p:nvPr/>
            </p:nvSpPr>
            <p:spPr>
              <a:xfrm>
                <a:off x="6062191" y="5641107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1061419-479C-B205-B965-67CBEEB57798}"/>
                  </a:ext>
                </a:extLst>
              </p:cNvPr>
              <p:cNvSpPr/>
              <p:nvPr/>
            </p:nvSpPr>
            <p:spPr>
              <a:xfrm>
                <a:off x="6198263" y="5719235"/>
                <a:ext cx="132732" cy="1474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5573231-3A54-0A48-F691-879D1DE4513E}"/>
                  </a:ext>
                </a:extLst>
              </p:cNvPr>
              <p:cNvCxnSpPr>
                <a:stCxn id="29" idx="3"/>
              </p:cNvCxnSpPr>
              <p:nvPr/>
            </p:nvCxnSpPr>
            <p:spPr>
              <a:xfrm>
                <a:off x="5759357" y="5222365"/>
                <a:ext cx="16485" cy="8933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36B3022-95D4-CD37-C0F9-8638C7B546D3}"/>
                  </a:ext>
                </a:extLst>
              </p:cNvPr>
              <p:cNvSpPr txBox="1"/>
              <p:nvPr/>
            </p:nvSpPr>
            <p:spPr>
              <a:xfrm>
                <a:off x="5394959" y="4354146"/>
                <a:ext cx="8886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Cost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CA3B40E-D506-EFC2-7918-32B8F7D1EEB7}"/>
                  </a:ext>
                </a:extLst>
              </p:cNvPr>
              <p:cNvSpPr txBox="1"/>
              <p:nvPr/>
            </p:nvSpPr>
            <p:spPr>
              <a:xfrm>
                <a:off x="5644340" y="6120051"/>
                <a:ext cx="686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Start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02860BC-FE7F-0B25-D502-BB82F28548E7}"/>
                </a:ext>
              </a:extLst>
            </p:cNvPr>
            <p:cNvSpPr txBox="1"/>
            <p:nvPr/>
          </p:nvSpPr>
          <p:spPr>
            <a:xfrm>
              <a:off x="5603588" y="6115653"/>
              <a:ext cx="31621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Figure: Learning Rate</a:t>
              </a:r>
            </a:p>
          </p:txBody>
        </p:sp>
      </p:grp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3EA76A3-C823-12A4-4884-E71ABF11324E}"/>
              </a:ext>
            </a:extLst>
          </p:cNvPr>
          <p:cNvCxnSpPr>
            <a:stCxn id="63" idx="4"/>
          </p:cNvCxnSpPr>
          <p:nvPr/>
        </p:nvCxnSpPr>
        <p:spPr>
          <a:xfrm flipH="1">
            <a:off x="8951278" y="5501348"/>
            <a:ext cx="1" cy="1184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FC48E41-53A2-C390-A7DD-E04F2957059F}"/>
              </a:ext>
            </a:extLst>
          </p:cNvPr>
          <p:cNvCxnSpPr>
            <a:cxnSpLocks/>
            <a:stCxn id="58" idx="3"/>
          </p:cNvCxnSpPr>
          <p:nvPr/>
        </p:nvCxnSpPr>
        <p:spPr>
          <a:xfrm flipH="1">
            <a:off x="9886766" y="5429359"/>
            <a:ext cx="512" cy="1777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73F0D977-2F00-66E7-B1F7-C272E2EE9789}"/>
              </a:ext>
            </a:extLst>
          </p:cNvPr>
          <p:cNvSpPr/>
          <p:nvPr/>
        </p:nvSpPr>
        <p:spPr>
          <a:xfrm>
            <a:off x="734782" y="4444004"/>
            <a:ext cx="1315469" cy="15144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Batch Gradient Descent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AE26FCDE-B735-573D-0E9D-2D84A3E2581D}"/>
              </a:ext>
            </a:extLst>
          </p:cNvPr>
          <p:cNvSpPr/>
          <p:nvPr/>
        </p:nvSpPr>
        <p:spPr>
          <a:xfrm>
            <a:off x="1943038" y="4458795"/>
            <a:ext cx="1315469" cy="15144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Mini-Batch Gradient Descent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BECE1C4F-9998-234A-B4F7-1EE429FE98D4}"/>
              </a:ext>
            </a:extLst>
          </p:cNvPr>
          <p:cNvSpPr/>
          <p:nvPr/>
        </p:nvSpPr>
        <p:spPr>
          <a:xfrm>
            <a:off x="3119869" y="4473584"/>
            <a:ext cx="1315469" cy="15144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sz="1200" b="1" dirty="0">
                <a:solidFill>
                  <a:schemeClr val="tx2"/>
                </a:solidFill>
              </a:rPr>
              <a:t>Stochastic Gradient Descent 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757817-3E89-BF20-FE7E-66CB45E1328E}"/>
              </a:ext>
            </a:extLst>
          </p:cNvPr>
          <p:cNvGrpSpPr/>
          <p:nvPr/>
        </p:nvGrpSpPr>
        <p:grpSpPr>
          <a:xfrm>
            <a:off x="1563749" y="3655981"/>
            <a:ext cx="1667067" cy="536528"/>
            <a:chOff x="1487712" y="3550662"/>
            <a:chExt cx="1860671" cy="618573"/>
          </a:xfrm>
        </p:grpSpPr>
        <p:sp>
          <p:nvSpPr>
            <p:cNvPr id="215" name="Title 1">
              <a:extLst>
                <a:ext uri="{FF2B5EF4-FFF2-40B4-BE49-F238E27FC236}">
                  <a16:creationId xmlns:a16="http://schemas.microsoft.com/office/drawing/2014/main" id="{E5BDD3A9-9C35-38F8-CC97-E188B6095B17}"/>
                </a:ext>
              </a:extLst>
            </p:cNvPr>
            <p:cNvSpPr txBox="1">
              <a:spLocks/>
            </p:cNvSpPr>
            <p:nvPr/>
          </p:nvSpPr>
          <p:spPr>
            <a:xfrm>
              <a:off x="1487712" y="3555804"/>
              <a:ext cx="1860671" cy="59441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en-US" sz="2400" dirty="0"/>
                <a:t>Types</a:t>
              </a:r>
              <a:endParaRPr lang="en-US" sz="3200" dirty="0"/>
            </a:p>
          </p:txBody>
        </p:sp>
        <p:sp>
          <p:nvSpPr>
            <p:cNvPr id="216" name="Rectangle: Diagonal Corners Rounded 215">
              <a:extLst>
                <a:ext uri="{FF2B5EF4-FFF2-40B4-BE49-F238E27FC236}">
                  <a16:creationId xmlns:a16="http://schemas.microsoft.com/office/drawing/2014/main" id="{E7B3770D-7FC8-3773-D0E7-CFB6602A1025}"/>
                </a:ext>
              </a:extLst>
            </p:cNvPr>
            <p:cNvSpPr/>
            <p:nvPr/>
          </p:nvSpPr>
          <p:spPr>
            <a:xfrm>
              <a:off x="1577591" y="3550662"/>
              <a:ext cx="1680915" cy="618573"/>
            </a:xfrm>
            <a:prstGeom prst="round2DiagRect">
              <a:avLst/>
            </a:prstGeom>
            <a:noFill/>
            <a:ln cap="flat" cmpd="sng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601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2" grpId="0" animBg="1"/>
      <p:bldP spid="213" grpId="0" animBg="1"/>
      <p:bldP spid="2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/>
              <a:t>Polynomial Regression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D698B-830A-54CE-3EFB-90705391556D}"/>
              </a:ext>
            </a:extLst>
          </p:cNvPr>
          <p:cNvGrpSpPr/>
          <p:nvPr/>
        </p:nvGrpSpPr>
        <p:grpSpPr>
          <a:xfrm>
            <a:off x="4750622" y="3059720"/>
            <a:ext cx="3136715" cy="2638073"/>
            <a:chOff x="4716647" y="3305527"/>
            <a:chExt cx="3136715" cy="2638073"/>
          </a:xfrm>
        </p:grpSpPr>
        <p:pic>
          <p:nvPicPr>
            <p:cNvPr id="6" name="Picture 5" descr="A graph of a function&#10;&#10;Description automatically generated with medium confidence">
              <a:extLst>
                <a:ext uri="{FF2B5EF4-FFF2-40B4-BE49-F238E27FC236}">
                  <a16:creationId xmlns:a16="http://schemas.microsoft.com/office/drawing/2014/main" id="{5CEC8647-0535-5DC7-80C6-173735750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6647" y="3305527"/>
              <a:ext cx="2948776" cy="219683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005F8B-256F-5154-C4A5-9DC17458811F}"/>
                </a:ext>
              </a:extLst>
            </p:cNvPr>
            <p:cNvSpPr txBox="1"/>
            <p:nvPr/>
          </p:nvSpPr>
          <p:spPr>
            <a:xfrm>
              <a:off x="5002726" y="5574268"/>
              <a:ext cx="285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Non-Linear Dataset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985ECF-577B-36CA-28A4-0EEBC3B929FE}"/>
              </a:ext>
            </a:extLst>
          </p:cNvPr>
          <p:cNvGrpSpPr/>
          <p:nvPr/>
        </p:nvGrpSpPr>
        <p:grpSpPr>
          <a:xfrm>
            <a:off x="8417650" y="3077347"/>
            <a:ext cx="3808325" cy="2607830"/>
            <a:chOff x="8383675" y="3323154"/>
            <a:chExt cx="3808325" cy="2607830"/>
          </a:xfrm>
        </p:grpSpPr>
        <p:pic>
          <p:nvPicPr>
            <p:cNvPr id="8" name="Picture 7" descr="A red line with blue dots&#10;&#10;Description automatically generated">
              <a:extLst>
                <a:ext uri="{FF2B5EF4-FFF2-40B4-BE49-F238E27FC236}">
                  <a16:creationId xmlns:a16="http://schemas.microsoft.com/office/drawing/2014/main" id="{6E5884E0-E775-4CDD-3C87-B19E0A32D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7341" y="3323154"/>
              <a:ext cx="2925115" cy="21792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E192A0-719B-4FE8-85E1-FC44AA81A956}"/>
                </a:ext>
              </a:extLst>
            </p:cNvPr>
            <p:cNvSpPr txBox="1"/>
            <p:nvPr/>
          </p:nvSpPr>
          <p:spPr>
            <a:xfrm>
              <a:off x="8383675" y="5561652"/>
              <a:ext cx="380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Polynomial Regression Predictions</a:t>
              </a:r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860919-DA92-F01C-61F8-A73ACF0E9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691" y="751724"/>
            <a:ext cx="7265372" cy="2033803"/>
          </a:xfrm>
        </p:spPr>
        <p:txBody>
          <a:bodyPr/>
          <a:lstStyle/>
          <a:p>
            <a:r>
              <a:rPr lang="en-US" dirty="0"/>
              <a:t>Not linear, complex shape</a:t>
            </a:r>
          </a:p>
          <a:p>
            <a:r>
              <a:rPr lang="en-US" dirty="0"/>
              <a:t>Add the increments of each characteristics as a new characteristic </a:t>
            </a:r>
          </a:p>
          <a:p>
            <a:r>
              <a:rPr lang="en-US" dirty="0"/>
              <a:t>Train linear models on datasets with extended characteristics. </a:t>
            </a:r>
          </a:p>
        </p:txBody>
      </p:sp>
    </p:spTree>
    <p:extLst>
      <p:ext uri="{BB962C8B-B14F-4D97-AF65-F5344CB8AC3E}">
        <p14:creationId xmlns:p14="http://schemas.microsoft.com/office/powerpoint/2010/main" val="37358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Learning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0613" y="727233"/>
            <a:ext cx="7036095" cy="1222783"/>
          </a:xfrm>
        </p:spPr>
        <p:txBody>
          <a:bodyPr anchor="ctr">
            <a:normAutofit/>
          </a:bodyPr>
          <a:lstStyle/>
          <a:p>
            <a:r>
              <a:rPr lang="en-US" altLang="en-US" sz="1800" dirty="0"/>
              <a:t>Learning curve shows how accuracy changes with varying sample size.</a:t>
            </a:r>
          </a:p>
          <a:p>
            <a:r>
              <a:rPr lang="en-US" altLang="en-US" dirty="0"/>
              <a:t>Make subset in training set and train several times.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CB0BC7-A595-F44F-872C-47E5F29AE59A}"/>
              </a:ext>
            </a:extLst>
          </p:cNvPr>
          <p:cNvGrpSpPr/>
          <p:nvPr/>
        </p:nvGrpSpPr>
        <p:grpSpPr>
          <a:xfrm>
            <a:off x="5838499" y="2180594"/>
            <a:ext cx="5003346" cy="4193856"/>
            <a:chOff x="5926989" y="2491888"/>
            <a:chExt cx="5003346" cy="41938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F27F7EB-D9F8-29A5-B376-A1B436759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6989" y="2491888"/>
              <a:ext cx="5003346" cy="373265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A0D4A3C-B3A2-4806-4070-D8BDC52C9B88}"/>
                </a:ext>
              </a:extLst>
            </p:cNvPr>
            <p:cNvSpPr txBox="1"/>
            <p:nvPr/>
          </p:nvSpPr>
          <p:spPr>
            <a:xfrm>
              <a:off x="7446291" y="6316412"/>
              <a:ext cx="2581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Learning Curve</a:t>
              </a:r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9E888FC-297F-559B-2E82-F4BBF91C744A}"/>
              </a:ext>
            </a:extLst>
          </p:cNvPr>
          <p:cNvSpPr txBox="1">
            <a:spLocks/>
          </p:cNvSpPr>
          <p:nvPr/>
        </p:nvSpPr>
        <p:spPr>
          <a:xfrm>
            <a:off x="4910613" y="1096849"/>
            <a:ext cx="7036095" cy="1222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922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58" y="1116836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Regularized Linear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24664" y="794696"/>
                <a:ext cx="6108179" cy="1739968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/>
                        </a:solidFill>
                      </a:rPr>
                      <m:t>𝐽</m:t>
                    </m:r>
                    <m:d>
                      <m:dPr>
                        <m:ctrlPr>
                          <a:rPr lang="en-US" i="1">
                            <a:solidFill>
                              <a:schemeClr val="tx2"/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𝜃</m:t>
                        </m:r>
                      </m:e>
                    </m:d>
                    <m:r>
                      <a:rPr lang="en-US" i="1">
                        <a:solidFill>
                          <a:schemeClr val="tx2"/>
                        </a:solidFill>
                      </a:rPr>
                      <m:t>=</m:t>
                    </m:r>
                    <m:r>
                      <a:rPr lang="en-US" i="1">
                        <a:solidFill>
                          <a:schemeClr val="tx2"/>
                        </a:solidFill>
                      </a:rPr>
                      <m:t>𝑀𝑆𝐸</m:t>
                    </m:r>
                    <m:d>
                      <m:dPr>
                        <m:ctrlPr>
                          <a:rPr lang="en-US" i="1">
                            <a:solidFill>
                              <a:schemeClr val="tx2"/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𝜃</m:t>
                        </m:r>
                      </m:e>
                    </m:d>
                    <m:r>
                      <a:rPr lang="en-US" i="1">
                        <a:solidFill>
                          <a:schemeClr val="tx2"/>
                        </a:solidFill>
                      </a:rPr>
                      <m:t>+ </m:t>
                    </m:r>
                    <m:r>
                      <a:rPr lang="en-US" i="1">
                        <a:solidFill>
                          <a:schemeClr val="tx2"/>
                        </a:solidFill>
                      </a:rPr>
                      <m:t>𝛼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solidFill>
                              <a:schemeClr val="tx2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tx2"/>
                            </a:solidFill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2"/>
                                </a:solidFill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/>
                                    </a:solidFill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/>
                                    </a:solidFill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solidFill>
                                  <a:schemeClr val="tx2"/>
                                </a:solidFill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800" kern="100" dirty="0">
                  <a:solidFill>
                    <a:schemeClr val="tx2"/>
                  </a:solidFill>
                  <a:effectLst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kern="100" smtClean="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: Parameter for regulate</a:t>
                </a:r>
              </a:p>
              <a:p>
                <a:endParaRPr lang="en-US" dirty="0">
                  <a:solidFill>
                    <a:schemeClr val="tx2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4664" y="794696"/>
                <a:ext cx="6108179" cy="1739968"/>
              </a:xfrm>
              <a:blipFill>
                <a:blip r:embed="rId3"/>
                <a:stretch>
                  <a:fillRect l="-399" t="-8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A01297A-7F85-D581-69D7-407DD57D1404}"/>
              </a:ext>
            </a:extLst>
          </p:cNvPr>
          <p:cNvGrpSpPr/>
          <p:nvPr/>
        </p:nvGrpSpPr>
        <p:grpSpPr>
          <a:xfrm>
            <a:off x="5013194" y="2526219"/>
            <a:ext cx="7178806" cy="4032897"/>
            <a:chOff x="5013194" y="2526219"/>
            <a:chExt cx="7178806" cy="40328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00BF83-AE69-B494-C67D-E443E54F8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13194" y="2526219"/>
              <a:ext cx="7178806" cy="351284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DFA862E-8E3F-182A-9507-2E1633F6C88D}"/>
                </a:ext>
              </a:extLst>
            </p:cNvPr>
            <p:cNvSpPr txBox="1"/>
            <p:nvPr/>
          </p:nvSpPr>
          <p:spPr>
            <a:xfrm>
              <a:off x="7224765" y="6189784"/>
              <a:ext cx="30848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Ridge Regularization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227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28AC4B-805D-4091-A648-61572081C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14" y="2415200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733BE-061E-4600-B6A3-62A68EF2C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5606" y="978367"/>
                <a:ext cx="5094282" cy="1843345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Compute the sum of weights for the input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kern="100" smtClean="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acc>
                    <m:r>
                      <a:rPr lang="en-US" sz="1800" i="1" kern="10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i="1" kern="10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 kern="10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1800" i="1" kern="10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kern="100">
                                <a:solidFill>
                                  <a:schemeClr val="tx2"/>
                                </a:solidFill>
                                <a:effectLst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solidFill>
                                  <a:schemeClr val="tx2"/>
                                </a:solidFill>
                                <a:effectLst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 kern="100">
                                <a:solidFill>
                                  <a:schemeClr val="tx2"/>
                                </a:solidFill>
                                <a:effectLst/>
                                <a:ea typeface="Malgun Gothic" panose="020B0503020000020004" pitchFamily="34" charset="-127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kern="100">
                            <a:solidFill>
                              <a:schemeClr val="tx2"/>
                            </a:solidFill>
                            <a:effectLst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kern="100" dirty="0">
                  <a:solidFill>
                    <a:schemeClr val="tx2"/>
                  </a:solidFill>
                  <a:effectLst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2"/>
                        </a:solidFill>
                        <a:effectLst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:  Sigmoid function; Sigmoid curve 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Output : 0 ~ 1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5606" y="978367"/>
                <a:ext cx="5094282" cy="1843345"/>
              </a:xfrm>
              <a:blipFill>
                <a:blip r:embed="rId3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250EA69-616D-5EE1-6AC0-2A09B45A0BAF}"/>
              </a:ext>
            </a:extLst>
          </p:cNvPr>
          <p:cNvGrpSpPr/>
          <p:nvPr/>
        </p:nvGrpSpPr>
        <p:grpSpPr>
          <a:xfrm>
            <a:off x="4943789" y="3432767"/>
            <a:ext cx="6805834" cy="3118030"/>
            <a:chOff x="4943789" y="3432767"/>
            <a:chExt cx="6805834" cy="31180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21E536-4E7C-DE16-59C5-966DB33AE73E}"/>
                </a:ext>
              </a:extLst>
            </p:cNvPr>
            <p:cNvSpPr/>
            <p:nvPr/>
          </p:nvSpPr>
          <p:spPr>
            <a:xfrm>
              <a:off x="4943789" y="3432767"/>
              <a:ext cx="6805834" cy="25296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DC1A91-6552-210B-B52A-CB6E1835BA81}"/>
                </a:ext>
              </a:extLst>
            </p:cNvPr>
            <p:cNvCxnSpPr>
              <a:cxnSpLocks/>
              <a:stCxn id="6" idx="0"/>
              <a:endCxn id="6" idx="2"/>
            </p:cNvCxnSpPr>
            <p:nvPr/>
          </p:nvCxnSpPr>
          <p:spPr>
            <a:xfrm>
              <a:off x="8346706" y="3432767"/>
              <a:ext cx="0" cy="25296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8785833-2C0A-111B-8CAA-B7E02171E6E3}"/>
                </a:ext>
              </a:extLst>
            </p:cNvPr>
            <p:cNvCxnSpPr/>
            <p:nvPr/>
          </p:nvCxnSpPr>
          <p:spPr>
            <a:xfrm>
              <a:off x="4943789" y="5747657"/>
              <a:ext cx="680583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A4E38D-63DB-893D-04F3-E3B8546D6042}"/>
                </a:ext>
              </a:extLst>
            </p:cNvPr>
            <p:cNvCxnSpPr>
              <a:cxnSpLocks/>
              <a:stCxn id="6" idx="1"/>
              <a:endCxn id="6" idx="3"/>
            </p:cNvCxnSpPr>
            <p:nvPr/>
          </p:nvCxnSpPr>
          <p:spPr>
            <a:xfrm>
              <a:off x="4943789" y="4697604"/>
              <a:ext cx="6805834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60E984-E44D-1E01-C167-03394C3557A7}"/>
                </a:ext>
              </a:extLst>
            </p:cNvPr>
            <p:cNvCxnSpPr/>
            <p:nvPr/>
          </p:nvCxnSpPr>
          <p:spPr>
            <a:xfrm>
              <a:off x="4943789" y="3597310"/>
              <a:ext cx="6805834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4F12515A-C3B1-3F03-DB7E-DFC896017EFE}"/>
                </a:ext>
              </a:extLst>
            </p:cNvPr>
            <p:cNvCxnSpPr/>
            <p:nvPr/>
          </p:nvCxnSpPr>
          <p:spPr>
            <a:xfrm rot="10800000" flipV="1">
              <a:off x="4943789" y="3579716"/>
              <a:ext cx="6805834" cy="2150347"/>
            </a:xfrm>
            <a:prstGeom prst="curvedConnector3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037EC64-A8A3-7974-9D89-9FCDB613F769}"/>
                </a:ext>
              </a:extLst>
            </p:cNvPr>
            <p:cNvSpPr txBox="1"/>
            <p:nvPr/>
          </p:nvSpPr>
          <p:spPr>
            <a:xfrm>
              <a:off x="7013750" y="6181465"/>
              <a:ext cx="2893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Logistic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F5D87AF-8239-DF7F-00D7-C9B466AE71B6}"/>
                    </a:ext>
                  </a:extLst>
                </p:cNvPr>
                <p:cNvSpPr txBox="1"/>
                <p:nvPr/>
              </p:nvSpPr>
              <p:spPr>
                <a:xfrm>
                  <a:off x="5126275" y="3530127"/>
                  <a:ext cx="2893925" cy="617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F5D87AF-8239-DF7F-00D7-C9B466AE7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6275" y="3530127"/>
                  <a:ext cx="2893925" cy="6173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80D247-17F8-4C22-115A-9018818BAA5C}"/>
                </a:ext>
              </a:extLst>
            </p:cNvPr>
            <p:cNvCxnSpPr>
              <a:stCxn id="42" idx="1"/>
            </p:cNvCxnSpPr>
            <p:nvPr/>
          </p:nvCxnSpPr>
          <p:spPr>
            <a:xfrm flipV="1">
              <a:off x="5126275" y="3838784"/>
              <a:ext cx="601285" cy="17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065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356" y="2298351"/>
            <a:ext cx="3587262" cy="2040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7268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WebC11D</Template>
  <TotalTime>1939</TotalTime>
  <Words>302</Words>
  <Application>Microsoft Office PowerPoint</Application>
  <PresentationFormat>Widescreen</PresentationFormat>
  <Paragraphs>75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Malgun Gothic</vt:lpstr>
      <vt:lpstr>Arial</vt:lpstr>
      <vt:lpstr>Calibri</vt:lpstr>
      <vt:lpstr>Cambria Math</vt:lpstr>
      <vt:lpstr>Gill Sans MT</vt:lpstr>
      <vt:lpstr>Times New Roman</vt:lpstr>
      <vt:lpstr>Wingdings 2</vt:lpstr>
      <vt:lpstr>Dividend</vt:lpstr>
      <vt:lpstr>Model Training</vt:lpstr>
      <vt:lpstr>Contents</vt:lpstr>
      <vt:lpstr>Linear  Regression</vt:lpstr>
      <vt:lpstr>Gradient Descent and its  types</vt:lpstr>
      <vt:lpstr>Polynomial Regression</vt:lpstr>
      <vt:lpstr>Learning curve</vt:lpstr>
      <vt:lpstr>Regularized Linear models</vt:lpstr>
      <vt:lpstr>Logistic regression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Training</dc:title>
  <dc:creator>우마르 무하마드</dc:creator>
  <cp:lastModifiedBy>우마르 무하마드</cp:lastModifiedBy>
  <cp:revision>18</cp:revision>
  <dcterms:created xsi:type="dcterms:W3CDTF">2024-04-18T01:28:37Z</dcterms:created>
  <dcterms:modified xsi:type="dcterms:W3CDTF">2024-04-19T09:49:19Z</dcterms:modified>
</cp:coreProperties>
</file>